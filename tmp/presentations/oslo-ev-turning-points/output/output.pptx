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4101b674a7493c" /><Relationship Type="http://schemas.openxmlformats.org/officeDocument/2006/relationships/extended-properties" Target="/docProps/app.xml" Id="Rada21b308d0d4e12" /><Relationship Type="http://schemas.openxmlformats.org/officeDocument/2006/relationships/officeDocument" Target="/ppt/presentation.xml" Id="Rc4320b6a82b5437e" /></Relationships>
</file>

<file path=ppt/presentation.xml><?xml version="1.0" encoding="utf-8"?>
<p:presentation xmlns:p="http://schemas.openxmlformats.org/presentationml/2006/main">
  <p:sldMasterIdLst>
    <p:sldMasterId xmlns:r="http://schemas.openxmlformats.org/officeDocument/2006/relationships" id="2147483648" r:id="R3124f86bfc1240db"/>
  </p:sldMasterIdLst>
  <p:notesMasterIdLst>
    <p:notesMasterId xmlns:r="http://schemas.openxmlformats.org/officeDocument/2006/relationships" r:id="Rfb692d5c12e24842"/>
  </p:notesMasterIdLst>
  <p:sldIdLst>
    <p:sldId xmlns:r="http://schemas.openxmlformats.org/officeDocument/2006/relationships" id="256" r:id="Rd880bd7265ec493f"/>
    <p:sldId xmlns:r="http://schemas.openxmlformats.org/officeDocument/2006/relationships" id="257" r:id="Rdee2879be2e84d0c"/>
    <p:sldId xmlns:r="http://schemas.openxmlformats.org/officeDocument/2006/relationships" id="258" r:id="R8546fdc92cee4af8"/>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124f86bfc1240db" /><Relationship Type="http://schemas.openxmlformats.org/officeDocument/2006/relationships/theme" Target="/ppt/theme/theme1.xml" Id="R3885655c12bb4088" /><Relationship Type="http://schemas.openxmlformats.org/officeDocument/2006/relationships/notesMaster" Target="/ppt/notesMasters/notesMaster1.xml" Id="Rfb692d5c12e24842" /><Relationship Type="http://schemas.openxmlformats.org/officeDocument/2006/relationships/presProps" Target="/ppt/presProps.xml" Id="Re41b162e97ec4930" /><Relationship Type="http://schemas.openxmlformats.org/officeDocument/2006/relationships/viewProps" Target="/ppt/viewProps.xml" Id="Rab2463e52e794f7e" /><Relationship Type="http://schemas.openxmlformats.org/officeDocument/2006/relationships/tableStyles" Target="/ppt/tableStyles.xml" Id="Rc80303a21fce4c42" /><Relationship Type="http://schemas.openxmlformats.org/officeDocument/2006/relationships/slide" Target="/ppt/slides/slide1.xml" Id="Rd880bd7265ec493f" /><Relationship Type="http://schemas.openxmlformats.org/officeDocument/2006/relationships/slide" Target="/ppt/slides/slide2.xml" Id="Rdee2879be2e84d0c" /><Relationship Type="http://schemas.openxmlformats.org/officeDocument/2006/relationships/slide" Target="/ppt/slides/slide3.xml" Id="R8546fdc92cee4a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65683de4e204d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4c6e3b8f0d4192" /><Relationship Type="http://schemas.openxmlformats.org/officeDocument/2006/relationships/notesMaster" Target="/ppt/notesMasters/notesMaster1.xml" Id="Rdf54b9bf872c49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9d01bfeea343ed" /><Relationship Type="http://schemas.openxmlformats.org/officeDocument/2006/relationships/notesMaster" Target="/ppt/notesMasters/notesMaster1.xml" Id="R8edb136e722149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d6f221e43a49b6" /><Relationship Type="http://schemas.openxmlformats.org/officeDocument/2006/relationships/notesMaster" Target="/ppt/notesMasters/notesMaster1.xml" Id="Rdb773c0352114a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first turning point in the case. So far, we have seen how EV policy made electric cars cheaper, more convenient, and more predictable. But the bus lane shows us for the first time that EV policy was no longer only vehicle policy. It was beginning to affect urban road space.</a:t>
            </a:r>
          </a:p>
          <a:p xmlns:a="http://schemas.openxmlformats.org/drawingml/2006/main">
            <a:r>
              <a:t/>
            </a:r>
          </a:p>
          <a:p xmlns:a="http://schemas.openxmlformats.org/drawingml/2006/main">
            <a:r>
              <a:t>At the beginning, this policy was very smart. There were few EVs, so allowing EVs into bus lanes did not seriously delay buses, but it gave early adopters a very direct benefit: saving commuting time. For commuters around Oslo, that was more attractive than abstract environmental symbolism.</a:t>
            </a:r>
          </a:p>
          <a:p xmlns:a="http://schemas.openxmlformats.org/drawingml/2006/main">
            <a:r>
              <a:t/>
            </a:r>
          </a:p>
          <a:p xmlns:a="http://schemas.openxmlformats.org/drawingml/2006/main">
            <a:r>
              <a:t>The problem emerged after EV numbers grew. When more private EVs used the bus lane, the policy shifted from a climate incentive into competition with public transport priority. Aasness and Odeck clearly point out that EV incentives reduced CO2 emissions, but also produced adverse effects, including transit-lane delay and toll-revenue loss. The most important point is not that the bus lane was the only problem. It is that the bus lane made policymakers see that EVs are cleaner, but they are still cars.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that the bus lane was not an isolated issue. It was simply the most visible conflict. By the late part of Phase 2, EV privileges were affecting several core tools that Oslo and Norway used to manage transport.</a:t>
            </a:r>
          </a:p>
          <a:p xmlns:a="http://schemas.openxmlformats.org/drawingml/2006/main">
            <a:r>
              <a:t/>
            </a:r>
          </a:p>
          <a:p xmlns:a="http://schemas.openxmlformats.org/drawingml/2006/main">
            <a:r>
              <a:t>First, toll roads. Free or discounted tolls were effective because they reduced the daily cost of using an EV. But the toll system is not only a payment system. It is also a transport-governance and public-transport-finance tool. Aasness and Odeck considered toll exemption the most serious adverse effect of EV incentives because it caused a sizable loss of toll revenue.</a:t>
            </a:r>
          </a:p>
          <a:p xmlns:a="http://schemas.openxmlformats.org/drawingml/2006/main">
            <a:r>
              <a:t/>
            </a:r>
          </a:p>
          <a:p xmlns:a="http://schemas.openxmlformats.org/drawingml/2006/main">
            <a:r>
              <a:t>Second, parking and street access. Free municipal parking helped encourage EV adoption in the early stage. But in city centers, parking spaces and curb space are scarce resources. Once EVs became common, free parking was not only a climate incentive. It continued to lower the cost of private car access.</a:t>
            </a:r>
          </a:p>
          <a:p xmlns:a="http://schemas.openxmlformats.org/drawingml/2006/main">
            <a:r>
              <a:t/>
            </a:r>
          </a:p>
          <a:p xmlns:a="http://schemas.openxmlformats.org/drawingml/2006/main">
            <a:r>
              <a:t>Third, public legitimacy. The Greater Oslo survey from 2014 to 2020 shows growing disagreement with EV benefits such as toll exemptions, access to bus lanes without passengers, and free public parking. In other words, the public image of EV policy was changing. It moved from climate leadership toward something that some residents saw as private car privilege.</a:t>
            </a:r>
          </a:p>
          <a:p xmlns:a="http://schemas.openxmlformats.org/drawingml/2006/main">
            <a:r>
              <a:t/>
            </a:r>
          </a:p>
          <a:p xmlns:a="http://schemas.openxmlformats.org/drawingml/2006/main">
            <a:r>
              <a:t>The core point is that EV policy succeeded in changing the vehicle market, but it was also reshaping the rules of urban transport.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became a broader mobility problem because Oslo was not only trying to electrify cars. It was also trying to reduce the dominance of private cars in the city.</a:t>
            </a:r>
          </a:p>
          <a:p xmlns:a="http://schemas.openxmlformats.org/drawingml/2006/main">
            <a:r>
              <a:t/>
            </a:r>
          </a:p>
          <a:p xmlns:a="http://schemas.openxmlformats.org/drawingml/2006/main">
            <a:r>
              <a:t>Oslo's Climate Budget sets a 2030 goal of reducing direct greenhouse gas emissions by 95 percent compared with 2009. It also treats the climate budget as an integrated governance tool within the financial budget, not just as a climate report.</a:t>
            </a:r>
          </a:p>
          <a:p xmlns:a="http://schemas.openxmlformats.org/drawingml/2006/main">
            <a:r>
              <a:t/>
            </a:r>
          </a:p>
          <a:p xmlns:a="http://schemas.openxmlformats.org/drawingml/2006/main">
            <a:r>
              <a:t>At the same time, Oslo's transport strategy directs investment toward public transport, walking, and cycling. The 2024 Climate Budget states that Oslo Package 3 funds pedestrian, bicycle, and public transport measures, including subway, tram, and public-transport upgrades.</a:t>
            </a:r>
          </a:p>
          <a:p xmlns:a="http://schemas.openxmlformats.org/drawingml/2006/main">
            <a:r>
              <a:t/>
            </a:r>
          </a:p>
          <a:p xmlns:a="http://schemas.openxmlformats.org/drawingml/2006/main">
            <a:r>
              <a:t>This created a policy contradiction. EV incentives made electric driving cheaper and more convenient, while Oslo's mobility agenda tried to make private car use less dominant.</a:t>
            </a:r>
          </a:p>
          <a:p xmlns:a="http://schemas.openxmlformats.org/drawingml/2006/main">
            <a:r>
              <a:t/>
            </a:r>
          </a:p>
          <a:p xmlns:a="http://schemas.openxmlformats.org/drawingml/2006/main">
            <a:r>
              <a:t>The issue was not whether EVs were cleaner. They were. The issue was whether cleaner cars should continue receiving privileges that make car use more attractive.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2c692114ec418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4d6e54933df4503" /><Relationship Type="http://schemas.openxmlformats.org/officeDocument/2006/relationships/slideLayout" Target="/ppt/slideLayouts/slideLayout2.xml" Id="Rb3acfedc57a04a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acfedc57a04a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ec693d297a684de4" /><Relationship Type="http://schemas.openxmlformats.org/officeDocument/2006/relationships/image" Target="/ppt/media/image.jpeg" Id="R8045b58391414afa" /><Relationship Type="http://schemas.openxmlformats.org/officeDocument/2006/relationships/notesSlide" Target="/ppt/notesSlides/notesSlide1.xml" Id="Rd4c5f086100542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56074160bf04d40" /><Relationship Type="http://schemas.openxmlformats.org/officeDocument/2006/relationships/notesSlide" Target="/ppt/notesSlides/notesSlide2.xml" Id="R85a169fe2d7d40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15f0dd4881b4204" /><Relationship Type="http://schemas.openxmlformats.org/officeDocument/2006/relationships/notesSlide" Target="/ppt/notesSlides/notesSlide3.xml" Id="R2dadaeeeebb745e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1C1C43-E3C4-4B6A-8BCC-C73E93263A7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3FB6C72-3DD4-48FB-8D7F-6540DFF403D8}"/>
              </a:ext>
            </a:extLst>
          </p:cNvPr>
          <p:cNvSpPr>
            <a:spLocks xmlns:a="http://schemas.openxmlformats.org/drawingml/2006/main" noGrp="1"/>
          </p:cNvSpPr>
          <p:nvPr/>
        </p:nvSpPr>
        <p:spPr>
          <a:xfrm xmlns:a="http://schemas.openxmlformats.org/drawingml/2006/main">
            <a:off x="609600" y="438150"/>
            <a:ext cx="170688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02027"/>
                </a:solidFill>
              </a:defRPr>
            </a:pPr>
            <a:r>
              <a:rPr sz="3750" b="1">
                <a:solidFill>
                  <a:srgbClr val="102027"/>
                </a:solidFill>
              </a:rPr>
              <a:t>Turning Point I: The Bus Lane Revealed the First Mobility Conflict</a:t>
            </a:r>
          </a:p>
        </p:txBody>
      </p:sp>
      <p:sp>
        <p:nvSpPr>
          <p:cNvPr id="3" name="">
            <a:extLst xmlns:a="http://schemas.openxmlformats.org/drawingml/2006/main">
              <a:ext uri="{FF2B5EF4-FFF2-40B4-BE49-F238E27FC236}">
                <a16:creationId xmlns:a16="http://schemas.microsoft.com/office/drawing/2014/main" id="{7D2BCE2C-4FA8-46CF-8EEB-FD6CE05BE132}"/>
              </a:ext>
            </a:extLst>
          </p:cNvPr>
          <p:cNvSpPr>
            <a:spLocks xmlns:a="http://schemas.openxmlformats.org/drawingml/2006/main" noGrp="1"/>
          </p:cNvSpPr>
          <p:nvPr/>
        </p:nvSpPr>
        <p:spPr>
          <a:xfrm xmlns:a="http://schemas.openxmlformats.org/drawingml/2006/main">
            <a:off x="609600" y="1104900"/>
            <a:ext cx="144018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D6A70"/>
                </a:solidFill>
              </a:defRPr>
            </a:pPr>
            <a:r>
              <a:rPr sz="2100" b="0">
                <a:solidFill>
                  <a:srgbClr val="5D6A70"/>
                </a:solidFill>
              </a:rPr>
              <a:t>Bus-lane access was originally a powerful reward for early EV adopters, but as EV numbers increased, the same privilege began to compete with public transport priority.</a:t>
            </a:r>
          </a:p>
        </p:txBody>
      </p:sp>
      <p:sp>
        <p:nvSpPr>
          <p:cNvPr id="4" name="">
            <a:extLst xmlns:a="http://schemas.openxmlformats.org/drawingml/2006/main">
              <a:ext uri="{FF2B5EF4-FFF2-40B4-BE49-F238E27FC236}">
                <a16:creationId xmlns:a16="http://schemas.microsoft.com/office/drawing/2014/main" id="{CBFF7499-CB66-4B95-A8AD-1A268AFF71DC}"/>
              </a:ext>
            </a:extLst>
          </p:cNvPr>
          <p:cNvSpPr>
            <a:spLocks xmlns:a="http://schemas.openxmlformats.org/drawingml/2006/main" noGrp="1"/>
          </p:cNvSpPr>
          <p:nvPr/>
        </p:nvSpPr>
        <p:spPr>
          <a:xfrm xmlns:a="http://schemas.openxmlformats.org/drawingml/2006/main">
            <a:off x="609600" y="1943100"/>
            <a:ext cx="76962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02027"/>
                </a:solidFill>
              </a:defRPr>
            </a:pPr>
            <a:r>
              <a:rPr sz="2025" b="0">
                <a:solidFill>
                  <a:srgbClr val="102027"/>
                </a:solidFill>
              </a:rPr>
              <a:t>In 2003, EVs were allowed into selected bus lanes in the greater Oslo region; in 2005, the privilege became national.</a:t>
            </a:r>
          </a:p>
        </p:txBody>
      </p:sp>
      <p:sp>
        <p:nvSpPr>
          <p:cNvPr id="5" name="">
            <a:extLst xmlns:a="http://schemas.openxmlformats.org/drawingml/2006/main">
              <a:ext uri="{FF2B5EF4-FFF2-40B4-BE49-F238E27FC236}">
                <a16:creationId xmlns:a16="http://schemas.microsoft.com/office/drawing/2014/main" id="{719AAD3B-C5A3-42AD-9920-2C1F42053BB4}"/>
              </a:ext>
            </a:extLst>
          </p:cNvPr>
          <p:cNvSpPr>
            <a:spLocks xmlns:a="http://schemas.openxmlformats.org/drawingml/2006/main" noGrp="1"/>
          </p:cNvSpPr>
          <p:nvPr/>
        </p:nvSpPr>
        <p:spPr>
          <a:xfrm xmlns:a="http://schemas.openxmlformats.org/drawingml/2006/main">
            <a:off x="609600" y="2705100"/>
            <a:ext cx="76962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02027"/>
                </a:solidFill>
              </a:defRPr>
            </a:pPr>
            <a:r>
              <a:rPr sz="2100" b="1">
                <a:solidFill>
                  <a:srgbClr val="102027"/>
                </a:solidFill>
              </a:rPr>
              <a:t>The incentive worked because it offered something more valuable than abstract climate symbolism: time savings.</a:t>
            </a:r>
          </a:p>
        </p:txBody>
      </p:sp>
      <p:sp>
        <p:nvSpPr>
          <p:cNvPr id="6" name="">
            <a:extLst xmlns:a="http://schemas.openxmlformats.org/drawingml/2006/main">
              <a:ext uri="{FF2B5EF4-FFF2-40B4-BE49-F238E27FC236}">
                <a16:creationId xmlns:a16="http://schemas.microsoft.com/office/drawing/2014/main" id="{A42C10CD-4B22-4D21-A085-9FB88C82C8A4}"/>
              </a:ext>
            </a:extLst>
          </p:cNvPr>
          <p:cNvSpPr>
            <a:spLocks xmlns:a="http://schemas.openxmlformats.org/drawingml/2006/main" noGrp="1"/>
          </p:cNvSpPr>
          <p:nvPr/>
        </p:nvSpPr>
        <p:spPr>
          <a:xfrm xmlns:a="http://schemas.openxmlformats.org/drawingml/2006/main">
            <a:off x="609600" y="3505200"/>
            <a:ext cx="76962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5D6A70"/>
                </a:solidFill>
              </a:defRPr>
            </a:pPr>
            <a:r>
              <a:rPr sz="1875" b="0">
                <a:solidFill>
                  <a:srgbClr val="5D6A70"/>
                </a:solidFill>
              </a:rPr>
              <a:t>For commuters on congested corridors into Oslo, driving an EV could mean bypassing traffic.</a:t>
            </a:r>
          </a:p>
        </p:txBody>
      </p:sp>
      <p:sp>
        <p:nvSpPr>
          <p:cNvPr id="7" name="">
            <a:extLst xmlns:a="http://schemas.openxmlformats.org/drawingml/2006/main">
              <a:ext uri="{FF2B5EF4-FFF2-40B4-BE49-F238E27FC236}">
                <a16:creationId xmlns:a16="http://schemas.microsoft.com/office/drawing/2014/main" id="{F9837DE6-5A95-49A3-A8A9-9A1CF936F6AA}"/>
              </a:ext>
            </a:extLst>
          </p:cNvPr>
          <p:cNvSpPr>
            <a:spLocks xmlns:a="http://schemas.openxmlformats.org/drawingml/2006/main" noGrp="1"/>
          </p:cNvSpPr>
          <p:nvPr/>
        </p:nvSpPr>
        <p:spPr>
          <a:xfrm xmlns:a="http://schemas.openxmlformats.org/drawingml/2006/main">
            <a:off x="609600" y="4229100"/>
            <a:ext cx="769620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Aasness and Odeck found adverse effects, including transit-lane delay and a sizable toll-revenue loss; they identified toll exemption as the most serious adverse effect.</a:t>
            </a:r>
          </a:p>
        </p:txBody>
      </p:sp>
      <p:sp>
        <p:nvSpPr>
          <p:cNvPr id="8" name="">
            <a:extLst xmlns:a="http://schemas.openxmlformats.org/drawingml/2006/main">
              <a:ext uri="{FF2B5EF4-FFF2-40B4-BE49-F238E27FC236}">
                <a16:creationId xmlns:a16="http://schemas.microsoft.com/office/drawing/2014/main" id="{22D226D8-7672-4CD4-A31A-5CFFE373DBDD}"/>
              </a:ext>
            </a:extLst>
          </p:cNvPr>
          <p:cNvSpPr>
            <a:spLocks xmlns:a="http://schemas.openxmlformats.org/drawingml/2006/main" noGrp="1"/>
          </p:cNvSpPr>
          <p:nvPr/>
        </p:nvSpPr>
        <p:spPr>
          <a:xfrm xmlns:a="http://schemas.openxmlformats.org/drawingml/2006/main">
            <a:off x="609600" y="5231130"/>
            <a:ext cx="7693914" cy="1261110"/>
          </a:xfrm>
          <a:prstGeom xmlns:a="http://schemas.openxmlformats.org/drawingml/2006/main" prst="roundRect">
            <a:avLst>
              <a:gd name="adj" fmla="val 6042"/>
            </a:avLst>
          </a:prstGeom>
          <a:solidFill xmlns:a="http://schemas.openxmlformats.org/drawingml/2006/main">
            <a:srgbClr val="E7F1EF"/>
          </a:solidFill>
        </p:spPr>
      </p:sp>
      <p:sp>
        <p:nvSpPr>
          <p:cNvPr id="9" name="">
            <a:extLst xmlns:a="http://schemas.openxmlformats.org/drawingml/2006/main">
              <a:ext uri="{FF2B5EF4-FFF2-40B4-BE49-F238E27FC236}">
                <a16:creationId xmlns:a16="http://schemas.microsoft.com/office/drawing/2014/main" id="{6C602644-2864-4A04-8634-AA85C6274846}"/>
              </a:ext>
            </a:extLst>
          </p:cNvPr>
          <p:cNvSpPr>
            <a:spLocks xmlns:a="http://schemas.openxmlformats.org/drawingml/2006/main" noGrp="1"/>
          </p:cNvSpPr>
          <p:nvPr/>
        </p:nvSpPr>
        <p:spPr>
          <a:xfrm xmlns:a="http://schemas.openxmlformats.org/drawingml/2006/main">
            <a:off x="800100" y="5372100"/>
            <a:ext cx="731520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102027"/>
                </a:solidFill>
              </a:defRPr>
            </a:pPr>
            <a:r>
              <a:rPr sz="2175" b="1">
                <a:solidFill>
                  <a:srgbClr val="102027"/>
                </a:solidFill>
              </a:rPr>
              <a:t>Takeaway: The bus lane was where EV policy stopped being only a climate incentive and became a street-space conflict.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45b58391414afa"/>
          <a:srcRect xmlns:a="http://schemas.openxmlformats.org/drawingml/2006/main" l="0" t="19628" r="0" b="19628"/>
          <a:stretch xmlns:a="http://schemas.openxmlformats.org/drawingml/2006/main">
            <a:fillRect l="0" t="0" r="0" b="0"/>
          </a:stretch>
        </p:blipFill>
        <p:spPr>
          <a:xfrm xmlns:a="http://schemas.openxmlformats.org/drawingml/2006/main">
            <a:off x="8646414" y="1935480"/>
            <a:ext cx="9031986" cy="3429000"/>
          </a:xfrm>
          <a:prstGeom xmlns:a="http://schemas.openxmlformats.org/drawingml/2006/main" prst="roundRect">
            <a:avLst>
              <a:gd name="adj" fmla="val 2222"/>
            </a:avLst>
          </a:prstGeom>
        </p:spPr>
      </p:pic>
      <p:sp>
        <p:nvSpPr>
          <p:cNvPr id="11" name="">
            <a:extLst xmlns:a="http://schemas.openxmlformats.org/drawingml/2006/main">
              <a:ext uri="{FF2B5EF4-FFF2-40B4-BE49-F238E27FC236}">
                <a16:creationId xmlns:a16="http://schemas.microsoft.com/office/drawing/2014/main" id="{4B2AD0AA-45FC-48ED-8FE8-54B72EECB902}"/>
              </a:ext>
            </a:extLst>
          </p:cNvPr>
          <p:cNvSpPr>
            <a:spLocks xmlns:a="http://schemas.openxmlformats.org/drawingml/2006/main" noGrp="1"/>
          </p:cNvSpPr>
          <p:nvPr/>
        </p:nvSpPr>
        <p:spPr>
          <a:xfrm xmlns:a="http://schemas.openxmlformats.org/drawingml/2006/main">
            <a:off x="8648700" y="5543550"/>
            <a:ext cx="44005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4E9F3D"/>
                </a:solidFill>
              </a:defRPr>
            </a:pPr>
            <a:r>
              <a:rPr sz="2400" b="1">
                <a:solidFill>
                  <a:srgbClr val="4E9F3D"/>
                </a:solidFill>
              </a:rPr>
              <a:t>Early stage</a:t>
            </a:r>
          </a:p>
        </p:txBody>
      </p:sp>
      <p:sp>
        <p:nvSpPr>
          <p:cNvPr id="12" name="">
            <a:extLst xmlns:a="http://schemas.openxmlformats.org/drawingml/2006/main">
              <a:ext uri="{FF2B5EF4-FFF2-40B4-BE49-F238E27FC236}">
                <a16:creationId xmlns:a16="http://schemas.microsoft.com/office/drawing/2014/main" id="{4B7EDAD7-F604-4429-B686-7A22E239CF37}"/>
              </a:ext>
            </a:extLst>
          </p:cNvPr>
          <p:cNvSpPr>
            <a:spLocks xmlns:a="http://schemas.openxmlformats.org/drawingml/2006/main" noGrp="1"/>
          </p:cNvSpPr>
          <p:nvPr/>
        </p:nvSpPr>
        <p:spPr>
          <a:xfrm xmlns:a="http://schemas.openxmlformats.org/drawingml/2006/main">
            <a:off x="8648700" y="6019800"/>
            <a:ext cx="4400550" cy="47625"/>
          </a:xfrm>
          <a:prstGeom xmlns:a="http://schemas.openxmlformats.org/drawingml/2006/main" prst="rect">
            <a:avLst/>
          </a:prstGeom>
          <a:solidFill xmlns:a="http://schemas.openxmlformats.org/drawingml/2006/main">
            <a:srgbClr val="4E9F3D"/>
          </a:solidFill>
          <a:ln xmlns:a="http://schemas.openxmlformats.org/drawingml/2006/main" w="0">
            <a:solidFill>
              <a:srgbClr val="4E9F3D"/>
            </a:solidFill>
            <a:prstDash val="solid"/>
          </a:ln>
        </p:spPr>
      </p:sp>
      <p:sp>
        <p:nvSpPr>
          <p:cNvPr id="13" name="">
            <a:extLst xmlns:a="http://schemas.openxmlformats.org/drawingml/2006/main">
              <a:ext uri="{FF2B5EF4-FFF2-40B4-BE49-F238E27FC236}">
                <a16:creationId xmlns:a16="http://schemas.microsoft.com/office/drawing/2014/main" id="{E306FCE1-0456-4856-9119-8F16DD130D30}"/>
              </a:ext>
            </a:extLst>
          </p:cNvPr>
          <p:cNvSpPr>
            <a:spLocks xmlns:a="http://schemas.openxmlformats.org/drawingml/2006/main" noGrp="1"/>
          </p:cNvSpPr>
          <p:nvPr/>
        </p:nvSpPr>
        <p:spPr>
          <a:xfrm xmlns:a="http://schemas.openxmlformats.org/drawingml/2006/main">
            <a:off x="8648700" y="6172200"/>
            <a:ext cx="440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02027"/>
                </a:solidFill>
              </a:defRPr>
            </a:pPr>
            <a:r>
              <a:rPr sz="1800" b="0">
                <a:solidFill>
                  <a:srgbClr val="102027"/>
                </a:solidFill>
              </a:rPr>
              <a:t>Few EVs</a:t>
            </a:r>
          </a:p>
        </p:txBody>
      </p:sp>
      <p:sp>
        <p:nvSpPr>
          <p:cNvPr id="14" name="">
            <a:extLst xmlns:a="http://schemas.openxmlformats.org/drawingml/2006/main">
              <a:ext uri="{FF2B5EF4-FFF2-40B4-BE49-F238E27FC236}">
                <a16:creationId xmlns:a16="http://schemas.microsoft.com/office/drawing/2014/main" id="{86FC062C-6B22-42BA-8D3D-038C154F4618}"/>
              </a:ext>
            </a:extLst>
          </p:cNvPr>
          <p:cNvSpPr>
            <a:spLocks xmlns:a="http://schemas.openxmlformats.org/drawingml/2006/main" noGrp="1"/>
          </p:cNvSpPr>
          <p:nvPr/>
        </p:nvSpPr>
        <p:spPr>
          <a:xfrm xmlns:a="http://schemas.openxmlformats.org/drawingml/2006/main">
            <a:off x="8648700" y="6572250"/>
            <a:ext cx="440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02027"/>
                </a:solidFill>
              </a:defRPr>
            </a:pPr>
            <a:r>
              <a:rPr sz="1800" b="0">
                <a:solidFill>
                  <a:srgbClr val="102027"/>
                </a:solidFill>
              </a:rPr>
              <a:t>Bus-lane access rewards adoption</a:t>
            </a:r>
          </a:p>
        </p:txBody>
      </p:sp>
      <p:sp>
        <p:nvSpPr>
          <p:cNvPr id="15" name="">
            <a:extLst xmlns:a="http://schemas.openxmlformats.org/drawingml/2006/main">
              <a:ext uri="{FF2B5EF4-FFF2-40B4-BE49-F238E27FC236}">
                <a16:creationId xmlns:a16="http://schemas.microsoft.com/office/drawing/2014/main" id="{471A500B-25FB-4EE1-AF32-98D831EE333D}"/>
              </a:ext>
            </a:extLst>
          </p:cNvPr>
          <p:cNvSpPr>
            <a:spLocks xmlns:a="http://schemas.openxmlformats.org/drawingml/2006/main" noGrp="1"/>
          </p:cNvSpPr>
          <p:nvPr/>
        </p:nvSpPr>
        <p:spPr>
          <a:xfrm xmlns:a="http://schemas.openxmlformats.org/drawingml/2006/main">
            <a:off x="8648700" y="6953250"/>
            <a:ext cx="440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02027"/>
                </a:solidFill>
              </a:defRPr>
            </a:pPr>
            <a:r>
              <a:rPr sz="1800" b="0">
                <a:solidFill>
                  <a:srgbClr val="102027"/>
                </a:solidFill>
              </a:rPr>
              <a:t>Climate incentive</a:t>
            </a:r>
          </a:p>
        </p:txBody>
      </p:sp>
      <p:sp>
        <p:nvSpPr>
          <p:cNvPr id="16" name="">
            <a:extLst xmlns:a="http://schemas.openxmlformats.org/drawingml/2006/main">
              <a:ext uri="{FF2B5EF4-FFF2-40B4-BE49-F238E27FC236}">
                <a16:creationId xmlns:a16="http://schemas.microsoft.com/office/drawing/2014/main" id="{ECDF53D2-2CD2-4BF3-8A68-A5A2DFD382AA}"/>
              </a:ext>
            </a:extLst>
          </p:cNvPr>
          <p:cNvSpPr>
            <a:spLocks xmlns:a="http://schemas.openxmlformats.org/drawingml/2006/main" noGrp="1"/>
          </p:cNvSpPr>
          <p:nvPr/>
        </p:nvSpPr>
        <p:spPr>
          <a:xfrm xmlns:a="http://schemas.openxmlformats.org/drawingml/2006/main">
            <a:off x="13277850" y="5543550"/>
            <a:ext cx="44005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E45A46"/>
                </a:solidFill>
              </a:defRPr>
            </a:pPr>
            <a:r>
              <a:rPr sz="2400" b="1">
                <a:solidFill>
                  <a:srgbClr val="E45A46"/>
                </a:solidFill>
              </a:rPr>
              <a:t>Mass stage</a:t>
            </a:r>
          </a:p>
        </p:txBody>
      </p:sp>
      <p:sp>
        <p:nvSpPr>
          <p:cNvPr id="17" name="">
            <a:extLst xmlns:a="http://schemas.openxmlformats.org/drawingml/2006/main">
              <a:ext uri="{FF2B5EF4-FFF2-40B4-BE49-F238E27FC236}">
                <a16:creationId xmlns:a16="http://schemas.microsoft.com/office/drawing/2014/main" id="{72D7D705-25BC-484C-AF31-5F58B6A25482}"/>
              </a:ext>
            </a:extLst>
          </p:cNvPr>
          <p:cNvSpPr>
            <a:spLocks xmlns:a="http://schemas.openxmlformats.org/drawingml/2006/main" noGrp="1"/>
          </p:cNvSpPr>
          <p:nvPr/>
        </p:nvSpPr>
        <p:spPr>
          <a:xfrm xmlns:a="http://schemas.openxmlformats.org/drawingml/2006/main">
            <a:off x="13277850" y="6019800"/>
            <a:ext cx="4400550" cy="47625"/>
          </a:xfrm>
          <a:prstGeom xmlns:a="http://schemas.openxmlformats.org/drawingml/2006/main" prst="rect">
            <a:avLst/>
          </a:prstGeom>
          <a:solidFill xmlns:a="http://schemas.openxmlformats.org/drawingml/2006/main">
            <a:srgbClr val="E45A46"/>
          </a:solidFill>
          <a:ln xmlns:a="http://schemas.openxmlformats.org/drawingml/2006/main" w="0">
            <a:solidFill>
              <a:srgbClr val="E45A46"/>
            </a:solidFill>
            <a:prstDash val="solid"/>
          </a:ln>
        </p:spPr>
      </p:sp>
      <p:sp>
        <p:nvSpPr>
          <p:cNvPr id="18" name="">
            <a:extLst xmlns:a="http://schemas.openxmlformats.org/drawingml/2006/main">
              <a:ext uri="{FF2B5EF4-FFF2-40B4-BE49-F238E27FC236}">
                <a16:creationId xmlns:a16="http://schemas.microsoft.com/office/drawing/2014/main" id="{A0E479B9-91FE-4D02-A206-780E13A27483}"/>
              </a:ext>
            </a:extLst>
          </p:cNvPr>
          <p:cNvSpPr>
            <a:spLocks xmlns:a="http://schemas.openxmlformats.org/drawingml/2006/main" noGrp="1"/>
          </p:cNvSpPr>
          <p:nvPr/>
        </p:nvSpPr>
        <p:spPr>
          <a:xfrm xmlns:a="http://schemas.openxmlformats.org/drawingml/2006/main">
            <a:off x="13277850" y="6172200"/>
            <a:ext cx="440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02027"/>
                </a:solidFill>
              </a:defRPr>
            </a:pPr>
            <a:r>
              <a:rPr sz="1800" b="0">
                <a:solidFill>
                  <a:srgbClr val="102027"/>
                </a:solidFill>
              </a:rPr>
              <a:t>Many EVs</a:t>
            </a:r>
          </a:p>
        </p:txBody>
      </p:sp>
      <p:sp>
        <p:nvSpPr>
          <p:cNvPr id="19" name="">
            <a:extLst xmlns:a="http://schemas.openxmlformats.org/drawingml/2006/main">
              <a:ext uri="{FF2B5EF4-FFF2-40B4-BE49-F238E27FC236}">
                <a16:creationId xmlns:a16="http://schemas.microsoft.com/office/drawing/2014/main" id="{63D27857-5BF9-45CF-951D-195D4F6A365F}"/>
              </a:ext>
            </a:extLst>
          </p:cNvPr>
          <p:cNvSpPr>
            <a:spLocks xmlns:a="http://schemas.openxmlformats.org/drawingml/2006/main" noGrp="1"/>
          </p:cNvSpPr>
          <p:nvPr/>
        </p:nvSpPr>
        <p:spPr>
          <a:xfrm xmlns:a="http://schemas.openxmlformats.org/drawingml/2006/main">
            <a:off x="13277850" y="6572250"/>
            <a:ext cx="440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02027"/>
                </a:solidFill>
              </a:defRPr>
            </a:pPr>
            <a:r>
              <a:rPr sz="1800" b="0">
                <a:solidFill>
                  <a:srgbClr val="102027"/>
                </a:solidFill>
              </a:rPr>
              <a:t>Bus-lane access competes with buses</a:t>
            </a:r>
          </a:p>
        </p:txBody>
      </p:sp>
      <p:sp>
        <p:nvSpPr>
          <p:cNvPr id="20" name="">
            <a:extLst xmlns:a="http://schemas.openxmlformats.org/drawingml/2006/main">
              <a:ext uri="{FF2B5EF4-FFF2-40B4-BE49-F238E27FC236}">
                <a16:creationId xmlns:a16="http://schemas.microsoft.com/office/drawing/2014/main" id="{7E11BD0A-6921-45DA-A393-31D4C7A15FF7}"/>
              </a:ext>
            </a:extLst>
          </p:cNvPr>
          <p:cNvSpPr>
            <a:spLocks xmlns:a="http://schemas.openxmlformats.org/drawingml/2006/main" noGrp="1"/>
          </p:cNvSpPr>
          <p:nvPr/>
        </p:nvSpPr>
        <p:spPr>
          <a:xfrm xmlns:a="http://schemas.openxmlformats.org/drawingml/2006/main">
            <a:off x="13277850" y="6953250"/>
            <a:ext cx="440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02027"/>
                </a:solidFill>
              </a:defRPr>
            </a:pPr>
            <a:r>
              <a:rPr sz="1800" b="0">
                <a:solidFill>
                  <a:srgbClr val="102027"/>
                </a:solidFill>
              </a:rPr>
              <a:t>Street-space conflict</a:t>
            </a:r>
          </a:p>
        </p:txBody>
      </p:sp>
      <p:sp>
        <p:nvSpPr>
          <p:cNvPr id="21" name="">
            <a:extLst xmlns:a="http://schemas.openxmlformats.org/drawingml/2006/main">
              <a:ext uri="{FF2B5EF4-FFF2-40B4-BE49-F238E27FC236}">
                <a16:creationId xmlns:a16="http://schemas.microsoft.com/office/drawing/2014/main" id="{97A05349-22FC-483A-93FD-779634A70CA1}"/>
              </a:ext>
            </a:extLst>
          </p:cNvPr>
          <p:cNvSpPr>
            <a:spLocks xmlns:a="http://schemas.openxmlformats.org/drawingml/2006/main" noGrp="1"/>
          </p:cNvSpPr>
          <p:nvPr/>
        </p:nvSpPr>
        <p:spPr>
          <a:xfrm xmlns:a="http://schemas.openxmlformats.org/drawingml/2006/main">
            <a:off x="8648700" y="7715250"/>
            <a:ext cx="1866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00A6A6"/>
                </a:solidFill>
              </a:defRPr>
            </a:pPr>
            <a:r>
              <a:rPr sz="2325" b="1">
                <a:solidFill>
                  <a:srgbClr val="00A6A6"/>
                </a:solidFill>
              </a:rPr>
              <a:t>2003</a:t>
            </a:r>
          </a:p>
        </p:txBody>
      </p:sp>
      <p:sp>
        <p:nvSpPr>
          <p:cNvPr id="22" name="">
            <a:extLst xmlns:a="http://schemas.openxmlformats.org/drawingml/2006/main">
              <a:ext uri="{FF2B5EF4-FFF2-40B4-BE49-F238E27FC236}">
                <a16:creationId xmlns:a16="http://schemas.microsoft.com/office/drawing/2014/main" id="{6A3A4AE7-B24A-4299-A933-EC458C1B6F68}"/>
              </a:ext>
            </a:extLst>
          </p:cNvPr>
          <p:cNvSpPr>
            <a:spLocks xmlns:a="http://schemas.openxmlformats.org/drawingml/2006/main" noGrp="1"/>
          </p:cNvSpPr>
          <p:nvPr/>
        </p:nvSpPr>
        <p:spPr>
          <a:xfrm xmlns:a="http://schemas.openxmlformats.org/drawingml/2006/main">
            <a:off x="8610600" y="8153400"/>
            <a:ext cx="1905000" cy="57150"/>
          </a:xfrm>
          <a:prstGeom xmlns:a="http://schemas.openxmlformats.org/drawingml/2006/main" prst="rect">
            <a:avLst/>
          </a:prstGeom>
          <a:solidFill xmlns:a="http://schemas.openxmlformats.org/drawingml/2006/main">
            <a:srgbClr val="00A6A6"/>
          </a:solidFill>
          <a:ln xmlns:a="http://schemas.openxmlformats.org/drawingml/2006/main" w="9525">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B16F3B4D-1816-4899-95D2-6D3B96D679DF}"/>
              </a:ext>
            </a:extLst>
          </p:cNvPr>
          <p:cNvSpPr>
            <a:spLocks xmlns:a="http://schemas.openxmlformats.org/drawingml/2006/main" noGrp="1"/>
          </p:cNvSpPr>
          <p:nvPr/>
        </p:nvSpPr>
        <p:spPr>
          <a:xfrm xmlns:a="http://schemas.openxmlformats.org/drawingml/2006/main">
            <a:off x="8648700" y="8267700"/>
            <a:ext cx="1866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275" b="1">
                <a:solidFill>
                  <a:srgbClr val="102027"/>
                </a:solidFill>
              </a:defRPr>
            </a:pPr>
            <a:r>
              <a:rPr sz="1275" b="1">
                <a:solidFill>
                  <a:srgbClr val="102027"/>
                </a:solidFill>
              </a:rPr>
              <a:t>Oslo-region test</a:t>
            </a:r>
          </a:p>
        </p:txBody>
      </p:sp>
      <p:sp>
        <p:nvSpPr>
          <p:cNvPr id="24" name="">
            <a:extLst xmlns:a="http://schemas.openxmlformats.org/drawingml/2006/main">
              <a:ext uri="{FF2B5EF4-FFF2-40B4-BE49-F238E27FC236}">
                <a16:creationId xmlns:a16="http://schemas.microsoft.com/office/drawing/2014/main" id="{562D4AFA-49CF-49DA-B78C-D704D484E3E8}"/>
              </a:ext>
            </a:extLst>
          </p:cNvPr>
          <p:cNvSpPr>
            <a:spLocks xmlns:a="http://schemas.openxmlformats.org/drawingml/2006/main" noGrp="1"/>
          </p:cNvSpPr>
          <p:nvPr/>
        </p:nvSpPr>
        <p:spPr>
          <a:xfrm xmlns:a="http://schemas.openxmlformats.org/drawingml/2006/main">
            <a:off x="10591800" y="7715250"/>
            <a:ext cx="3619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5D6A70"/>
                </a:solidFill>
              </a:defRPr>
            </a:pPr>
            <a:r>
              <a:rPr sz="2325" b="1">
                <a:solidFill>
                  <a:srgbClr val="5D6A70"/>
                </a:solidFill>
              </a:rPr>
              <a:t>-&gt;</a:t>
            </a:r>
          </a:p>
        </p:txBody>
      </p:sp>
      <p:sp>
        <p:nvSpPr>
          <p:cNvPr id="25" name="">
            <a:extLst xmlns:a="http://schemas.openxmlformats.org/drawingml/2006/main">
              <a:ext uri="{FF2B5EF4-FFF2-40B4-BE49-F238E27FC236}">
                <a16:creationId xmlns:a16="http://schemas.microsoft.com/office/drawing/2014/main" id="{EB702252-8CE5-4D5A-86B8-A467E89BB29A}"/>
              </a:ext>
            </a:extLst>
          </p:cNvPr>
          <p:cNvSpPr>
            <a:spLocks xmlns:a="http://schemas.openxmlformats.org/drawingml/2006/main" noGrp="1"/>
          </p:cNvSpPr>
          <p:nvPr/>
        </p:nvSpPr>
        <p:spPr>
          <a:xfrm xmlns:a="http://schemas.openxmlformats.org/drawingml/2006/main">
            <a:off x="11029950" y="7715250"/>
            <a:ext cx="1866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2F6FBB"/>
                </a:solidFill>
              </a:defRPr>
            </a:pPr>
            <a:r>
              <a:rPr sz="2325" b="1">
                <a:solidFill>
                  <a:srgbClr val="2F6FBB"/>
                </a:solidFill>
              </a:rPr>
              <a:t>2005</a:t>
            </a:r>
          </a:p>
        </p:txBody>
      </p:sp>
      <p:sp>
        <p:nvSpPr>
          <p:cNvPr id="26" name="">
            <a:extLst xmlns:a="http://schemas.openxmlformats.org/drawingml/2006/main">
              <a:ext uri="{FF2B5EF4-FFF2-40B4-BE49-F238E27FC236}">
                <a16:creationId xmlns:a16="http://schemas.microsoft.com/office/drawing/2014/main" id="{93CFF5A6-06A1-47A1-8A90-A4D31FC5A05F}"/>
              </a:ext>
            </a:extLst>
          </p:cNvPr>
          <p:cNvSpPr>
            <a:spLocks xmlns:a="http://schemas.openxmlformats.org/drawingml/2006/main" noGrp="1"/>
          </p:cNvSpPr>
          <p:nvPr/>
        </p:nvSpPr>
        <p:spPr>
          <a:xfrm xmlns:a="http://schemas.openxmlformats.org/drawingml/2006/main">
            <a:off x="11049000" y="8153400"/>
            <a:ext cx="1905000" cy="57150"/>
          </a:xfrm>
          <a:prstGeom xmlns:a="http://schemas.openxmlformats.org/drawingml/2006/main" prst="rect">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A0866DF-CFEC-4313-BDEA-208D1868331D}"/>
              </a:ext>
            </a:extLst>
          </p:cNvPr>
          <p:cNvSpPr>
            <a:spLocks xmlns:a="http://schemas.openxmlformats.org/drawingml/2006/main" noGrp="1"/>
          </p:cNvSpPr>
          <p:nvPr/>
        </p:nvSpPr>
        <p:spPr>
          <a:xfrm xmlns:a="http://schemas.openxmlformats.org/drawingml/2006/main">
            <a:off x="11029950" y="8267700"/>
            <a:ext cx="1866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275" b="1">
                <a:solidFill>
                  <a:srgbClr val="102027"/>
                </a:solidFill>
              </a:defRPr>
            </a:pPr>
            <a:r>
              <a:rPr sz="1275" b="1">
                <a:solidFill>
                  <a:srgbClr val="102027"/>
                </a:solidFill>
              </a:rPr>
              <a:t>national access</a:t>
            </a:r>
          </a:p>
        </p:txBody>
      </p:sp>
      <p:sp>
        <p:nvSpPr>
          <p:cNvPr id="28" name="">
            <a:extLst xmlns:a="http://schemas.openxmlformats.org/drawingml/2006/main">
              <a:ext uri="{FF2B5EF4-FFF2-40B4-BE49-F238E27FC236}">
                <a16:creationId xmlns:a16="http://schemas.microsoft.com/office/drawing/2014/main" id="{C7526B92-681A-4CC3-B887-81A2A2A44240}"/>
              </a:ext>
            </a:extLst>
          </p:cNvPr>
          <p:cNvSpPr>
            <a:spLocks xmlns:a="http://schemas.openxmlformats.org/drawingml/2006/main" noGrp="1"/>
          </p:cNvSpPr>
          <p:nvPr/>
        </p:nvSpPr>
        <p:spPr>
          <a:xfrm xmlns:a="http://schemas.openxmlformats.org/drawingml/2006/main">
            <a:off x="12973050" y="7715250"/>
            <a:ext cx="3619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5D6A70"/>
                </a:solidFill>
              </a:defRPr>
            </a:pPr>
            <a:r>
              <a:rPr sz="2325" b="1">
                <a:solidFill>
                  <a:srgbClr val="5D6A70"/>
                </a:solidFill>
              </a:rPr>
              <a:t>-&gt;</a:t>
            </a:r>
          </a:p>
        </p:txBody>
      </p:sp>
      <p:sp>
        <p:nvSpPr>
          <p:cNvPr id="29" name="">
            <a:extLst xmlns:a="http://schemas.openxmlformats.org/drawingml/2006/main">
              <a:ext uri="{FF2B5EF4-FFF2-40B4-BE49-F238E27FC236}">
                <a16:creationId xmlns:a16="http://schemas.microsoft.com/office/drawing/2014/main" id="{51CC3164-41B5-4307-B4CB-FABDDA494B12}"/>
              </a:ext>
            </a:extLst>
          </p:cNvPr>
          <p:cNvSpPr>
            <a:spLocks xmlns:a="http://schemas.openxmlformats.org/drawingml/2006/main" noGrp="1"/>
          </p:cNvSpPr>
          <p:nvPr/>
        </p:nvSpPr>
        <p:spPr>
          <a:xfrm xmlns:a="http://schemas.openxmlformats.org/drawingml/2006/main">
            <a:off x="13411200" y="7715250"/>
            <a:ext cx="1866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E45A46"/>
                </a:solidFill>
              </a:defRPr>
            </a:pPr>
            <a:r>
              <a:rPr sz="2325" b="1">
                <a:solidFill>
                  <a:srgbClr val="E45A46"/>
                </a:solidFill>
              </a:rPr>
              <a:t>2015</a:t>
            </a:r>
          </a:p>
        </p:txBody>
      </p:sp>
      <p:sp>
        <p:nvSpPr>
          <p:cNvPr id="30" name="">
            <a:extLst xmlns:a="http://schemas.openxmlformats.org/drawingml/2006/main">
              <a:ext uri="{FF2B5EF4-FFF2-40B4-BE49-F238E27FC236}">
                <a16:creationId xmlns:a16="http://schemas.microsoft.com/office/drawing/2014/main" id="{EA993B94-96D6-4222-954E-6629B4FB55D8}"/>
              </a:ext>
            </a:extLst>
          </p:cNvPr>
          <p:cNvSpPr>
            <a:spLocks xmlns:a="http://schemas.openxmlformats.org/drawingml/2006/main" noGrp="1"/>
          </p:cNvSpPr>
          <p:nvPr/>
        </p:nvSpPr>
        <p:spPr>
          <a:xfrm xmlns:a="http://schemas.openxmlformats.org/drawingml/2006/main">
            <a:off x="13411200" y="8153400"/>
            <a:ext cx="1905000" cy="5715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FE93A451-07F6-4F99-A016-B25028B40DC0}"/>
              </a:ext>
            </a:extLst>
          </p:cNvPr>
          <p:cNvSpPr>
            <a:spLocks xmlns:a="http://schemas.openxmlformats.org/drawingml/2006/main" noGrp="1"/>
          </p:cNvSpPr>
          <p:nvPr/>
        </p:nvSpPr>
        <p:spPr>
          <a:xfrm xmlns:a="http://schemas.openxmlformats.org/drawingml/2006/main">
            <a:off x="13411200" y="8267700"/>
            <a:ext cx="1866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275" b="1">
                <a:solidFill>
                  <a:srgbClr val="102027"/>
                </a:solidFill>
              </a:defRPr>
            </a:pPr>
            <a:r>
              <a:rPr sz="1275" b="1">
                <a:solidFill>
                  <a:srgbClr val="102027"/>
                </a:solidFill>
              </a:rPr>
              <a:t>restrictions begin</a:t>
            </a:r>
          </a:p>
        </p:txBody>
      </p:sp>
      <p:sp>
        <p:nvSpPr>
          <p:cNvPr id="32" name="">
            <a:extLst xmlns:a="http://schemas.openxmlformats.org/drawingml/2006/main">
              <a:ext uri="{FF2B5EF4-FFF2-40B4-BE49-F238E27FC236}">
                <a16:creationId xmlns:a16="http://schemas.microsoft.com/office/drawing/2014/main" id="{8679FD28-EE44-47E5-A5ED-3FE07B3437CD}"/>
              </a:ext>
            </a:extLst>
          </p:cNvPr>
          <p:cNvSpPr>
            <a:spLocks xmlns:a="http://schemas.openxmlformats.org/drawingml/2006/main" noGrp="1"/>
          </p:cNvSpPr>
          <p:nvPr/>
        </p:nvSpPr>
        <p:spPr>
          <a:xfrm xmlns:a="http://schemas.openxmlformats.org/drawingml/2006/main">
            <a:off x="15373350" y="7715250"/>
            <a:ext cx="3619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5D6A70"/>
                </a:solidFill>
              </a:defRPr>
            </a:pPr>
            <a:r>
              <a:rPr sz="2325" b="1">
                <a:solidFill>
                  <a:srgbClr val="5D6A70"/>
                </a:solidFill>
              </a:rPr>
              <a:t>-&gt;</a:t>
            </a:r>
          </a:p>
        </p:txBody>
      </p:sp>
      <p:sp>
        <p:nvSpPr>
          <p:cNvPr id="33" name="">
            <a:extLst xmlns:a="http://schemas.openxmlformats.org/drawingml/2006/main">
              <a:ext uri="{FF2B5EF4-FFF2-40B4-BE49-F238E27FC236}">
                <a16:creationId xmlns:a16="http://schemas.microsoft.com/office/drawing/2014/main" id="{6E7A2A80-74E8-4105-A8A1-2504DF915581}"/>
              </a:ext>
            </a:extLst>
          </p:cNvPr>
          <p:cNvSpPr>
            <a:spLocks xmlns:a="http://schemas.openxmlformats.org/drawingml/2006/main" noGrp="1"/>
          </p:cNvSpPr>
          <p:nvPr/>
        </p:nvSpPr>
        <p:spPr>
          <a:xfrm xmlns:a="http://schemas.openxmlformats.org/drawingml/2006/main">
            <a:off x="15811500" y="7715250"/>
            <a:ext cx="1866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325" b="1">
                <a:solidFill>
                  <a:srgbClr val="4E9F3D"/>
                </a:solidFill>
              </a:defRPr>
            </a:pPr>
            <a:r>
              <a:rPr sz="2325" b="1">
                <a:solidFill>
                  <a:srgbClr val="4E9F3D"/>
                </a:solidFill>
              </a:rPr>
              <a:t>2024</a:t>
            </a:r>
          </a:p>
        </p:txBody>
      </p:sp>
      <p:sp>
        <p:nvSpPr>
          <p:cNvPr id="34" name="">
            <a:extLst xmlns:a="http://schemas.openxmlformats.org/drawingml/2006/main">
              <a:ext uri="{FF2B5EF4-FFF2-40B4-BE49-F238E27FC236}">
                <a16:creationId xmlns:a16="http://schemas.microsoft.com/office/drawing/2014/main" id="{69D3BD98-5A79-492A-B409-68C3FB921498}"/>
              </a:ext>
            </a:extLst>
          </p:cNvPr>
          <p:cNvSpPr>
            <a:spLocks xmlns:a="http://schemas.openxmlformats.org/drawingml/2006/main" noGrp="1"/>
          </p:cNvSpPr>
          <p:nvPr/>
        </p:nvSpPr>
        <p:spPr>
          <a:xfrm xmlns:a="http://schemas.openxmlformats.org/drawingml/2006/main">
            <a:off x="15773400" y="8153400"/>
            <a:ext cx="1905000" cy="57150"/>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6EED766-5CA5-444C-A8D5-E1C69E531AD2}"/>
              </a:ext>
            </a:extLst>
          </p:cNvPr>
          <p:cNvSpPr>
            <a:spLocks xmlns:a="http://schemas.openxmlformats.org/drawingml/2006/main" noGrp="1"/>
          </p:cNvSpPr>
          <p:nvPr/>
        </p:nvSpPr>
        <p:spPr>
          <a:xfrm xmlns:a="http://schemas.openxmlformats.org/drawingml/2006/main">
            <a:off x="15811500" y="8267700"/>
            <a:ext cx="1866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275" b="1">
                <a:solidFill>
                  <a:srgbClr val="102027"/>
                </a:solidFill>
              </a:defRPr>
            </a:pPr>
            <a:r>
              <a:rPr sz="1275" b="1">
                <a:solidFill>
                  <a:srgbClr val="102027"/>
                </a:solidFill>
              </a:rPr>
              <a:t>Oslo/Akershus ban</a:t>
            </a:r>
          </a:p>
        </p:txBody>
      </p:sp>
      <p:sp>
        <p:nvSpPr>
          <p:cNvPr id="36" name="">
            <a:extLst xmlns:a="http://schemas.openxmlformats.org/drawingml/2006/main">
              <a:ext uri="{FF2B5EF4-FFF2-40B4-BE49-F238E27FC236}">
                <a16:creationId xmlns:a16="http://schemas.microsoft.com/office/drawing/2014/main" id="{09CB81B3-5C44-4FAF-831F-0A530977CAC0}"/>
              </a:ext>
            </a:extLst>
          </p:cNvPr>
          <p:cNvSpPr>
            <a:spLocks xmlns:a="http://schemas.openxmlformats.org/drawingml/2006/main" noGrp="1"/>
          </p:cNvSpPr>
          <p:nvPr/>
        </p:nvSpPr>
        <p:spPr>
          <a:xfrm xmlns:a="http://schemas.openxmlformats.org/drawingml/2006/main">
            <a:off x="8648700" y="8953500"/>
            <a:ext cx="90297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5D6A70"/>
                </a:solidFill>
              </a:defRPr>
            </a:pPr>
            <a:r>
              <a:rPr sz="1350" b="0">
                <a:solidFill>
                  <a:srgbClr val="5D6A70"/>
                </a:solidFill>
              </a:rPr>
              <a:t>EV access to public transport lanes was revoked on national and European highways in Oslo and Akershus from May 6, 2024.</a:t>
            </a:r>
          </a:p>
        </p:txBody>
      </p:sp>
      <p:sp>
        <p:nvSpPr>
          <p:cNvPr id="37" name="">
            <a:extLst xmlns:a="http://schemas.openxmlformats.org/drawingml/2006/main">
              <a:ext uri="{FF2B5EF4-FFF2-40B4-BE49-F238E27FC236}">
                <a16:creationId xmlns:a16="http://schemas.microsoft.com/office/drawing/2014/main" id="{52C4228A-9E93-4841-A6FB-CA76690CD186}"/>
              </a:ext>
            </a:extLst>
          </p:cNvPr>
          <p:cNvSpPr>
            <a:spLocks xmlns:a="http://schemas.openxmlformats.org/drawingml/2006/main" noGrp="1"/>
          </p:cNvSpPr>
          <p:nvPr/>
        </p:nvSpPr>
        <p:spPr>
          <a:xfrm xmlns:a="http://schemas.openxmlformats.org/drawingml/2006/main">
            <a:off x="609600" y="9715500"/>
            <a:ext cx="17068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a:solidFill>
                  <a:srgbClr val="748287"/>
                </a:solidFill>
              </a:defRPr>
            </a:pPr>
            <a:r>
              <a:rPr sz="900" b="0">
                <a:solidFill>
                  <a:srgbClr val="748287"/>
                </a:solidFill>
              </a:rPr>
              <a:t>Sources: Aasness &amp; Odeck; TØI report 2064/2024 summary; Norwegian EV Association policy timeline.</a:t>
            </a:r>
          </a:p>
        </p:txBody>
      </p:sp>
    </p:spTree>
    <p:extLst>
      <p:ext uri="{BB962C8B-B14F-4D97-AF65-F5344CB8AC3E}">
        <p14:creationId xmlns:p14="http://schemas.microsoft.com/office/powerpoint/2010/main" val="20694652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34FAA6-76DB-419B-9332-727EBB98741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F432E35-ACDE-43F3-ADED-29FD5194F5A7}"/>
              </a:ext>
            </a:extLst>
          </p:cNvPr>
          <p:cNvSpPr>
            <a:spLocks xmlns:a="http://schemas.openxmlformats.org/drawingml/2006/main" noGrp="1"/>
          </p:cNvSpPr>
          <p:nvPr/>
        </p:nvSpPr>
        <p:spPr>
          <a:xfrm xmlns:a="http://schemas.openxmlformats.org/drawingml/2006/main">
            <a:off x="609600" y="438150"/>
            <a:ext cx="17068800" cy="1143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02027"/>
                </a:solidFill>
              </a:defRPr>
            </a:pPr>
            <a:r>
              <a:rPr sz="3750" b="1">
                <a:solidFill>
                  <a:srgbClr val="102027"/>
                </a:solidFill>
              </a:rPr>
              <a:t>Turning Point II: EV Privileges Began to Affect Oslo's Transport Governance Tools</a:t>
            </a:r>
          </a:p>
        </p:txBody>
      </p:sp>
      <p:sp>
        <p:nvSpPr>
          <p:cNvPr id="3" name="">
            <a:extLst xmlns:a="http://schemas.openxmlformats.org/drawingml/2006/main">
              <a:ext uri="{FF2B5EF4-FFF2-40B4-BE49-F238E27FC236}">
                <a16:creationId xmlns:a16="http://schemas.microsoft.com/office/drawing/2014/main" id="{6C8656D0-30FD-4B8F-9476-526A76504935}"/>
              </a:ext>
            </a:extLst>
          </p:cNvPr>
          <p:cNvSpPr>
            <a:spLocks xmlns:a="http://schemas.openxmlformats.org/drawingml/2006/main" noGrp="1"/>
          </p:cNvSpPr>
          <p:nvPr/>
        </p:nvSpPr>
        <p:spPr>
          <a:xfrm xmlns:a="http://schemas.openxmlformats.org/drawingml/2006/main">
            <a:off x="609600" y="1676400"/>
            <a:ext cx="139636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D6A70"/>
                </a:solidFill>
              </a:defRPr>
            </a:pPr>
            <a:r>
              <a:rPr sz="2100" b="0">
                <a:solidFill>
                  <a:srgbClr val="5D6A70"/>
                </a:solidFill>
              </a:rPr>
              <a:t>The bus lane was only the most visible conflict. By the late 2010s, EV privileges were also affecting toll roads, parking policy, and public acceptance.</a:t>
            </a:r>
          </a:p>
        </p:txBody>
      </p:sp>
      <p:sp>
        <p:nvSpPr>
          <p:cNvPr id="4" name="">
            <a:extLst xmlns:a="http://schemas.openxmlformats.org/drawingml/2006/main">
              <a:ext uri="{FF2B5EF4-FFF2-40B4-BE49-F238E27FC236}">
                <a16:creationId xmlns:a16="http://schemas.microsoft.com/office/drawing/2014/main" id="{4A45B488-B010-42B2-83F3-206F0A4384F2}"/>
              </a:ext>
            </a:extLst>
          </p:cNvPr>
          <p:cNvSpPr>
            <a:spLocks xmlns:a="http://schemas.openxmlformats.org/drawingml/2006/main" noGrp="1"/>
          </p:cNvSpPr>
          <p:nvPr/>
        </p:nvSpPr>
        <p:spPr>
          <a:xfrm xmlns:a="http://schemas.openxmlformats.org/drawingml/2006/main">
            <a:off x="609600" y="2514600"/>
            <a:ext cx="55054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2F6FBB"/>
                </a:solidFill>
              </a:defRPr>
            </a:pPr>
            <a:r>
              <a:rPr sz="2475" b="1">
                <a:solidFill>
                  <a:srgbClr val="2F6FBB"/>
                </a:solidFill>
              </a:rPr>
              <a:t>Toll roads</a:t>
            </a:r>
          </a:p>
        </p:txBody>
      </p:sp>
      <p:sp>
        <p:nvSpPr>
          <p:cNvPr id="5" name="">
            <a:extLst xmlns:a="http://schemas.openxmlformats.org/drawingml/2006/main">
              <a:ext uri="{FF2B5EF4-FFF2-40B4-BE49-F238E27FC236}">
                <a16:creationId xmlns:a16="http://schemas.microsoft.com/office/drawing/2014/main" id="{BE2A6C93-4E96-4E32-AC34-55C9ADF73009}"/>
              </a:ext>
            </a:extLst>
          </p:cNvPr>
          <p:cNvSpPr>
            <a:spLocks xmlns:a="http://schemas.openxmlformats.org/drawingml/2006/main" noGrp="1"/>
          </p:cNvSpPr>
          <p:nvPr/>
        </p:nvSpPr>
        <p:spPr>
          <a:xfrm xmlns:a="http://schemas.openxmlformats.org/drawingml/2006/main">
            <a:off x="609600" y="2990850"/>
            <a:ext cx="5505450" cy="47625"/>
          </a:xfrm>
          <a:prstGeom xmlns:a="http://schemas.openxmlformats.org/drawingml/2006/main" prst="rect">
            <a:avLst/>
          </a:prstGeom>
          <a:solidFill xmlns:a="http://schemas.openxmlformats.org/drawingml/2006/main">
            <a:srgbClr val="2F6FBB"/>
          </a:solidFill>
          <a:ln xmlns:a="http://schemas.openxmlformats.org/drawingml/2006/main" w="0">
            <a:solidFill>
              <a:srgbClr val="2F6FBB"/>
            </a:solidFill>
            <a:prstDash val="solid"/>
          </a:ln>
        </p:spPr>
      </p:sp>
      <p:sp>
        <p:nvSpPr>
          <p:cNvPr id="6" name="">
            <a:extLst xmlns:a="http://schemas.openxmlformats.org/drawingml/2006/main">
              <a:ext uri="{FF2B5EF4-FFF2-40B4-BE49-F238E27FC236}">
                <a16:creationId xmlns:a16="http://schemas.microsoft.com/office/drawing/2014/main" id="{F7950FF2-5C80-4DFE-B3C1-C2C60DD3D722}"/>
              </a:ext>
            </a:extLst>
          </p:cNvPr>
          <p:cNvSpPr>
            <a:spLocks xmlns:a="http://schemas.openxmlformats.org/drawingml/2006/main" noGrp="1"/>
          </p:cNvSpPr>
          <p:nvPr/>
        </p:nvSpPr>
        <p:spPr>
          <a:xfrm xmlns:a="http://schemas.openxmlformats.org/drawingml/2006/main">
            <a:off x="609600" y="3162300"/>
            <a:ext cx="55054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Free or discounted tolls helped EV adoption.</a:t>
            </a:r>
          </a:p>
        </p:txBody>
      </p:sp>
      <p:sp>
        <p:nvSpPr>
          <p:cNvPr id="7" name="">
            <a:extLst xmlns:a="http://schemas.openxmlformats.org/drawingml/2006/main">
              <a:ext uri="{FF2B5EF4-FFF2-40B4-BE49-F238E27FC236}">
                <a16:creationId xmlns:a16="http://schemas.microsoft.com/office/drawing/2014/main" id="{132571BD-CEE0-4FBF-A099-B8200A338881}"/>
              </a:ext>
            </a:extLst>
          </p:cNvPr>
          <p:cNvSpPr>
            <a:spLocks xmlns:a="http://schemas.openxmlformats.org/drawingml/2006/main" noGrp="1"/>
          </p:cNvSpPr>
          <p:nvPr/>
        </p:nvSpPr>
        <p:spPr>
          <a:xfrm xmlns:a="http://schemas.openxmlformats.org/drawingml/2006/main">
            <a:off x="609600" y="3562350"/>
            <a:ext cx="550545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But they weakened a major transport-finance and congestion-management tool.</a:t>
            </a:r>
          </a:p>
        </p:txBody>
      </p:sp>
      <p:sp>
        <p:nvSpPr>
          <p:cNvPr id="8" name="">
            <a:extLst xmlns:a="http://schemas.openxmlformats.org/drawingml/2006/main">
              <a:ext uri="{FF2B5EF4-FFF2-40B4-BE49-F238E27FC236}">
                <a16:creationId xmlns:a16="http://schemas.microsoft.com/office/drawing/2014/main" id="{47C250AB-3517-4E48-86E4-53335F377570}"/>
              </a:ext>
            </a:extLst>
          </p:cNvPr>
          <p:cNvSpPr>
            <a:spLocks xmlns:a="http://schemas.openxmlformats.org/drawingml/2006/main" noGrp="1"/>
          </p:cNvSpPr>
          <p:nvPr/>
        </p:nvSpPr>
        <p:spPr>
          <a:xfrm xmlns:a="http://schemas.openxmlformats.org/drawingml/2006/main">
            <a:off x="609600" y="4248150"/>
            <a:ext cx="550545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Aasness and Odeck described toll exemption as the most serious adverse effect because it caused a sizable loss of toll revenue.</a:t>
            </a:r>
          </a:p>
        </p:txBody>
      </p:sp>
      <p:sp>
        <p:nvSpPr>
          <p:cNvPr id="9" name="">
            <a:extLst xmlns:a="http://schemas.openxmlformats.org/drawingml/2006/main">
              <a:ext uri="{FF2B5EF4-FFF2-40B4-BE49-F238E27FC236}">
                <a16:creationId xmlns:a16="http://schemas.microsoft.com/office/drawing/2014/main" id="{F73B8B95-A79B-476B-BA3E-708CA53AF123}"/>
              </a:ext>
            </a:extLst>
          </p:cNvPr>
          <p:cNvSpPr>
            <a:spLocks xmlns:a="http://schemas.openxmlformats.org/drawingml/2006/main" noGrp="1"/>
          </p:cNvSpPr>
          <p:nvPr/>
        </p:nvSpPr>
        <p:spPr>
          <a:xfrm xmlns:a="http://schemas.openxmlformats.org/drawingml/2006/main">
            <a:off x="609600" y="5219700"/>
            <a:ext cx="55054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2F6FBB"/>
                </a:solidFill>
              </a:defRPr>
            </a:pPr>
            <a:r>
              <a:rPr sz="1875" b="1">
                <a:solidFill>
                  <a:srgbClr val="2F6FBB"/>
                </a:solidFill>
              </a:rPr>
              <a:t>Fiscal + transport pricing conflict</a:t>
            </a:r>
          </a:p>
        </p:txBody>
      </p:sp>
      <p:sp>
        <p:nvSpPr>
          <p:cNvPr id="10" name="">
            <a:extLst xmlns:a="http://schemas.openxmlformats.org/drawingml/2006/main">
              <a:ext uri="{FF2B5EF4-FFF2-40B4-BE49-F238E27FC236}">
                <a16:creationId xmlns:a16="http://schemas.microsoft.com/office/drawing/2014/main" id="{B93EB5C3-5D4F-41B3-BD17-6B2D8E33A379}"/>
              </a:ext>
            </a:extLst>
          </p:cNvPr>
          <p:cNvSpPr>
            <a:spLocks xmlns:a="http://schemas.openxmlformats.org/drawingml/2006/main" noGrp="1"/>
          </p:cNvSpPr>
          <p:nvPr/>
        </p:nvSpPr>
        <p:spPr>
          <a:xfrm xmlns:a="http://schemas.openxmlformats.org/drawingml/2006/main">
            <a:off x="6381750" y="2514600"/>
            <a:ext cx="55054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4E9F3D"/>
                </a:solidFill>
              </a:defRPr>
            </a:pPr>
            <a:r>
              <a:rPr sz="2475" b="1">
                <a:solidFill>
                  <a:srgbClr val="4E9F3D"/>
                </a:solidFill>
              </a:rPr>
              <a:t>Parking / curb space</a:t>
            </a:r>
          </a:p>
        </p:txBody>
      </p:sp>
      <p:sp>
        <p:nvSpPr>
          <p:cNvPr id="11" name="">
            <a:extLst xmlns:a="http://schemas.openxmlformats.org/drawingml/2006/main">
              <a:ext uri="{FF2B5EF4-FFF2-40B4-BE49-F238E27FC236}">
                <a16:creationId xmlns:a16="http://schemas.microsoft.com/office/drawing/2014/main" id="{49022F00-E702-4C63-B566-2A6921B5F74E}"/>
              </a:ext>
            </a:extLst>
          </p:cNvPr>
          <p:cNvSpPr>
            <a:spLocks xmlns:a="http://schemas.openxmlformats.org/drawingml/2006/main" noGrp="1"/>
          </p:cNvSpPr>
          <p:nvPr/>
        </p:nvSpPr>
        <p:spPr>
          <a:xfrm xmlns:a="http://schemas.openxmlformats.org/drawingml/2006/main">
            <a:off x="6381750" y="2990850"/>
            <a:ext cx="5505450" cy="47625"/>
          </a:xfrm>
          <a:prstGeom xmlns:a="http://schemas.openxmlformats.org/drawingml/2006/main" prst="rect">
            <a:avLst/>
          </a:prstGeom>
          <a:solidFill xmlns:a="http://schemas.openxmlformats.org/drawingml/2006/main">
            <a:srgbClr val="4E9F3D"/>
          </a:solidFill>
          <a:ln xmlns:a="http://schemas.openxmlformats.org/drawingml/2006/main" w="0">
            <a:solidFill>
              <a:srgbClr val="4E9F3D"/>
            </a:solidFill>
            <a:prstDash val="solid"/>
          </a:ln>
        </p:spPr>
      </p:sp>
      <p:sp>
        <p:nvSpPr>
          <p:cNvPr id="12" name="">
            <a:extLst xmlns:a="http://schemas.openxmlformats.org/drawingml/2006/main">
              <a:ext uri="{FF2B5EF4-FFF2-40B4-BE49-F238E27FC236}">
                <a16:creationId xmlns:a16="http://schemas.microsoft.com/office/drawing/2014/main" id="{A1DD11C7-06CB-41C3-8382-495FBCF7AFA2}"/>
              </a:ext>
            </a:extLst>
          </p:cNvPr>
          <p:cNvSpPr>
            <a:spLocks xmlns:a="http://schemas.openxmlformats.org/drawingml/2006/main" noGrp="1"/>
          </p:cNvSpPr>
          <p:nvPr/>
        </p:nvSpPr>
        <p:spPr>
          <a:xfrm xmlns:a="http://schemas.openxmlformats.org/drawingml/2006/main">
            <a:off x="6381750" y="3162300"/>
            <a:ext cx="550545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Free municipal parking made EVs attractive in cities.</a:t>
            </a:r>
          </a:p>
        </p:txBody>
      </p:sp>
      <p:sp>
        <p:nvSpPr>
          <p:cNvPr id="13" name="">
            <a:extLst xmlns:a="http://schemas.openxmlformats.org/drawingml/2006/main">
              <a:ext uri="{FF2B5EF4-FFF2-40B4-BE49-F238E27FC236}">
                <a16:creationId xmlns:a16="http://schemas.microsoft.com/office/drawing/2014/main" id="{9EE30800-2ACC-4A1B-8DC8-39220EFC94E7}"/>
              </a:ext>
            </a:extLst>
          </p:cNvPr>
          <p:cNvSpPr>
            <a:spLocks xmlns:a="http://schemas.openxmlformats.org/drawingml/2006/main" noGrp="1"/>
          </p:cNvSpPr>
          <p:nvPr/>
        </p:nvSpPr>
        <p:spPr>
          <a:xfrm xmlns:a="http://schemas.openxmlformats.org/drawingml/2006/main">
            <a:off x="6381750" y="3848100"/>
            <a:ext cx="550545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But it also made private car access easier while cities were trying to manage limited curb and street space.</a:t>
            </a:r>
          </a:p>
        </p:txBody>
      </p:sp>
      <p:sp>
        <p:nvSpPr>
          <p:cNvPr id="14" name="">
            <a:extLst xmlns:a="http://schemas.openxmlformats.org/drawingml/2006/main">
              <a:ext uri="{FF2B5EF4-FFF2-40B4-BE49-F238E27FC236}">
                <a16:creationId xmlns:a16="http://schemas.microsoft.com/office/drawing/2014/main" id="{A140A9DD-451B-4FC6-A6CA-FA04B7B8DFB3}"/>
              </a:ext>
            </a:extLst>
          </p:cNvPr>
          <p:cNvSpPr>
            <a:spLocks xmlns:a="http://schemas.openxmlformats.org/drawingml/2006/main" noGrp="1"/>
          </p:cNvSpPr>
          <p:nvPr/>
        </p:nvSpPr>
        <p:spPr>
          <a:xfrm xmlns:a="http://schemas.openxmlformats.org/drawingml/2006/main">
            <a:off x="6381750" y="4819650"/>
            <a:ext cx="55054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4E9F3D"/>
                </a:solidFill>
              </a:defRPr>
            </a:pPr>
            <a:r>
              <a:rPr sz="1875" b="1">
                <a:solidFill>
                  <a:srgbClr val="4E9F3D"/>
                </a:solidFill>
              </a:rPr>
              <a:t>Spatial conflict</a:t>
            </a:r>
          </a:p>
        </p:txBody>
      </p:sp>
      <p:sp>
        <p:nvSpPr>
          <p:cNvPr id="15" name="">
            <a:extLst xmlns:a="http://schemas.openxmlformats.org/drawingml/2006/main">
              <a:ext uri="{FF2B5EF4-FFF2-40B4-BE49-F238E27FC236}">
                <a16:creationId xmlns:a16="http://schemas.microsoft.com/office/drawing/2014/main" id="{35688D65-E86B-4CD3-B81C-7E1901E301C2}"/>
              </a:ext>
            </a:extLst>
          </p:cNvPr>
          <p:cNvSpPr>
            <a:spLocks xmlns:a="http://schemas.openxmlformats.org/drawingml/2006/main" noGrp="1"/>
          </p:cNvSpPr>
          <p:nvPr/>
        </p:nvSpPr>
        <p:spPr>
          <a:xfrm xmlns:a="http://schemas.openxmlformats.org/drawingml/2006/main">
            <a:off x="12172950" y="2514600"/>
            <a:ext cx="55054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E45A46"/>
                </a:solidFill>
              </a:defRPr>
            </a:pPr>
            <a:r>
              <a:rPr sz="2475" b="1">
                <a:solidFill>
                  <a:srgbClr val="E45A46"/>
                </a:solidFill>
              </a:rPr>
              <a:t>Public acceptance</a:t>
            </a:r>
          </a:p>
        </p:txBody>
      </p:sp>
      <p:sp>
        <p:nvSpPr>
          <p:cNvPr id="16" name="">
            <a:extLst xmlns:a="http://schemas.openxmlformats.org/drawingml/2006/main">
              <a:ext uri="{FF2B5EF4-FFF2-40B4-BE49-F238E27FC236}">
                <a16:creationId xmlns:a16="http://schemas.microsoft.com/office/drawing/2014/main" id="{1A9C17AE-7211-43E8-80DA-D6F4878275EE}"/>
              </a:ext>
            </a:extLst>
          </p:cNvPr>
          <p:cNvSpPr>
            <a:spLocks xmlns:a="http://schemas.openxmlformats.org/drawingml/2006/main" noGrp="1"/>
          </p:cNvSpPr>
          <p:nvPr/>
        </p:nvSpPr>
        <p:spPr>
          <a:xfrm xmlns:a="http://schemas.openxmlformats.org/drawingml/2006/main">
            <a:off x="12172950" y="2990850"/>
            <a:ext cx="5505450" cy="47625"/>
          </a:xfrm>
          <a:prstGeom xmlns:a="http://schemas.openxmlformats.org/drawingml/2006/main" prst="rect">
            <a:avLst/>
          </a:prstGeom>
          <a:solidFill xmlns:a="http://schemas.openxmlformats.org/drawingml/2006/main">
            <a:srgbClr val="E45A46"/>
          </a:solidFill>
          <a:ln xmlns:a="http://schemas.openxmlformats.org/drawingml/2006/main" w="0">
            <a:solidFill>
              <a:srgbClr val="E45A46"/>
            </a:solidFill>
            <a:prstDash val="solid"/>
          </a:ln>
        </p:spPr>
      </p:sp>
      <p:sp>
        <p:nvSpPr>
          <p:cNvPr id="17" name="">
            <a:extLst xmlns:a="http://schemas.openxmlformats.org/drawingml/2006/main">
              <a:ext uri="{FF2B5EF4-FFF2-40B4-BE49-F238E27FC236}">
                <a16:creationId xmlns:a16="http://schemas.microsoft.com/office/drawing/2014/main" id="{83CA553B-9A60-43E2-A190-999309FCCF88}"/>
              </a:ext>
            </a:extLst>
          </p:cNvPr>
          <p:cNvSpPr>
            <a:spLocks xmlns:a="http://schemas.openxmlformats.org/drawingml/2006/main" noGrp="1"/>
          </p:cNvSpPr>
          <p:nvPr/>
        </p:nvSpPr>
        <p:spPr>
          <a:xfrm xmlns:a="http://schemas.openxmlformats.org/drawingml/2006/main">
            <a:off x="12172950" y="3162300"/>
            <a:ext cx="550545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A Greater Oslo survey from 2014-2020 found growing disagreement with EV benefits.</a:t>
            </a:r>
          </a:p>
        </p:txBody>
      </p:sp>
      <p:sp>
        <p:nvSpPr>
          <p:cNvPr id="18" name="">
            <a:extLst xmlns:a="http://schemas.openxmlformats.org/drawingml/2006/main">
              <a:ext uri="{FF2B5EF4-FFF2-40B4-BE49-F238E27FC236}">
                <a16:creationId xmlns:a16="http://schemas.microsoft.com/office/drawing/2014/main" id="{A34896C3-1377-4832-8DAE-43A3AEE8A60D}"/>
              </a:ext>
            </a:extLst>
          </p:cNvPr>
          <p:cNvSpPr>
            <a:spLocks xmlns:a="http://schemas.openxmlformats.org/drawingml/2006/main" noGrp="1"/>
          </p:cNvSpPr>
          <p:nvPr/>
        </p:nvSpPr>
        <p:spPr>
          <a:xfrm xmlns:a="http://schemas.openxmlformats.org/drawingml/2006/main">
            <a:off x="12172950" y="3848100"/>
            <a:ext cx="550545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a:solidFill>
                  <a:srgbClr val="102027"/>
                </a:solidFill>
              </a:defRPr>
            </a:pPr>
            <a:r>
              <a:rPr sz="1875" b="0">
                <a:solidFill>
                  <a:srgbClr val="102027"/>
                </a:solidFill>
              </a:rPr>
              <a:t>Residents became more critical of toll exemptions, bus-lane access without passengers, and free public parking.</a:t>
            </a:r>
          </a:p>
        </p:txBody>
      </p:sp>
      <p:sp>
        <p:nvSpPr>
          <p:cNvPr id="19" name="">
            <a:extLst xmlns:a="http://schemas.openxmlformats.org/drawingml/2006/main">
              <a:ext uri="{FF2B5EF4-FFF2-40B4-BE49-F238E27FC236}">
                <a16:creationId xmlns:a16="http://schemas.microsoft.com/office/drawing/2014/main" id="{B4991EAC-F901-4B87-9798-7A555DA189D2}"/>
              </a:ext>
            </a:extLst>
          </p:cNvPr>
          <p:cNvSpPr>
            <a:spLocks xmlns:a="http://schemas.openxmlformats.org/drawingml/2006/main" noGrp="1"/>
          </p:cNvSpPr>
          <p:nvPr/>
        </p:nvSpPr>
        <p:spPr>
          <a:xfrm xmlns:a="http://schemas.openxmlformats.org/drawingml/2006/main">
            <a:off x="12172950" y="4819650"/>
            <a:ext cx="55054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E45A46"/>
                </a:solidFill>
              </a:defRPr>
            </a:pPr>
            <a:r>
              <a:rPr sz="1875" b="1">
                <a:solidFill>
                  <a:srgbClr val="E45A46"/>
                </a:solidFill>
              </a:rPr>
              <a:t>Political conflict</a:t>
            </a:r>
          </a:p>
        </p:txBody>
      </p:sp>
      <p:sp>
        <p:nvSpPr>
          <p:cNvPr id="20" name="">
            <a:extLst xmlns:a="http://schemas.openxmlformats.org/drawingml/2006/main">
              <a:ext uri="{FF2B5EF4-FFF2-40B4-BE49-F238E27FC236}">
                <a16:creationId xmlns:a16="http://schemas.microsoft.com/office/drawing/2014/main" id="{D54B4152-03B2-4E6E-BBEA-2970B45CF88E}"/>
              </a:ext>
            </a:extLst>
          </p:cNvPr>
          <p:cNvSpPr>
            <a:spLocks xmlns:a="http://schemas.openxmlformats.org/drawingml/2006/main" noGrp="1"/>
          </p:cNvSpPr>
          <p:nvPr/>
        </p:nvSpPr>
        <p:spPr>
          <a:xfrm xmlns:a="http://schemas.openxmlformats.org/drawingml/2006/main">
            <a:off x="609600" y="7753350"/>
            <a:ext cx="170688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300" b="1">
                <a:solidFill>
                  <a:srgbClr val="102027"/>
                </a:solidFill>
              </a:defRPr>
            </a:pPr>
            <a:r>
              <a:rPr sz="3300" b="1">
                <a:solidFill>
                  <a:srgbClr val="102027"/>
                </a:solidFill>
              </a:rPr>
              <a:t>From clean-vehicle incentive -&gt; urban transport governance problem</a:t>
            </a:r>
          </a:p>
        </p:txBody>
      </p:sp>
      <p:sp>
        <p:nvSpPr>
          <p:cNvPr id="21" name="">
            <a:extLst xmlns:a="http://schemas.openxmlformats.org/drawingml/2006/main">
              <a:ext uri="{FF2B5EF4-FFF2-40B4-BE49-F238E27FC236}">
                <a16:creationId xmlns:a16="http://schemas.microsoft.com/office/drawing/2014/main" id="{98926639-1AE1-425E-A2B6-7D5E52115278}"/>
              </a:ext>
            </a:extLst>
          </p:cNvPr>
          <p:cNvSpPr>
            <a:spLocks xmlns:a="http://schemas.openxmlformats.org/drawingml/2006/main" noGrp="1"/>
          </p:cNvSpPr>
          <p:nvPr/>
        </p:nvSpPr>
        <p:spPr>
          <a:xfrm xmlns:a="http://schemas.openxmlformats.org/drawingml/2006/main">
            <a:off x="609600" y="8439150"/>
            <a:ext cx="17068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a:solidFill>
                  <a:srgbClr val="748287"/>
                </a:solidFill>
              </a:defRPr>
            </a:pPr>
            <a:r>
              <a:rPr sz="900" b="0">
                <a:solidFill>
                  <a:srgbClr val="748287"/>
                </a:solidFill>
              </a:rPr>
              <a:t>Sources: Aasness &amp; Odeck; Greater Oslo EV-benefit attitude survey, 2014-2020.</a:t>
            </a:r>
          </a:p>
        </p:txBody>
      </p:sp>
    </p:spTree>
    <p:extLst>
      <p:ext uri="{BB962C8B-B14F-4D97-AF65-F5344CB8AC3E}">
        <p14:creationId xmlns:p14="http://schemas.microsoft.com/office/powerpoint/2010/main" val="9213289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FE26B9-6ABF-4BE7-AD70-C5B4BCCBB32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818830-A352-4001-A842-89935EFD609D}"/>
              </a:ext>
            </a:extLst>
          </p:cNvPr>
          <p:cNvSpPr>
            <a:spLocks xmlns:a="http://schemas.openxmlformats.org/drawingml/2006/main" noGrp="1"/>
          </p:cNvSpPr>
          <p:nvPr/>
        </p:nvSpPr>
        <p:spPr>
          <a:xfrm xmlns:a="http://schemas.openxmlformats.org/drawingml/2006/main">
            <a:off x="609600" y="438150"/>
            <a:ext cx="170688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02027"/>
                </a:solidFill>
              </a:defRPr>
            </a:pPr>
            <a:r>
              <a:rPr sz="3750" b="1">
                <a:solidFill>
                  <a:srgbClr val="102027"/>
                </a:solidFill>
              </a:rPr>
              <a:t>Why This Became a Broader Mobility Problem for Oslo</a:t>
            </a:r>
          </a:p>
        </p:txBody>
      </p:sp>
      <p:sp>
        <p:nvSpPr>
          <p:cNvPr id="3" name="">
            <a:extLst xmlns:a="http://schemas.openxmlformats.org/drawingml/2006/main">
              <a:ext uri="{FF2B5EF4-FFF2-40B4-BE49-F238E27FC236}">
                <a16:creationId xmlns:a16="http://schemas.microsoft.com/office/drawing/2014/main" id="{12EEA2CC-1AD0-485C-9C39-A02B4BB1A8C7}"/>
              </a:ext>
            </a:extLst>
          </p:cNvPr>
          <p:cNvSpPr>
            <a:spLocks xmlns:a="http://schemas.openxmlformats.org/drawingml/2006/main" noGrp="1"/>
          </p:cNvSpPr>
          <p:nvPr/>
        </p:nvSpPr>
        <p:spPr>
          <a:xfrm xmlns:a="http://schemas.openxmlformats.org/drawingml/2006/main">
            <a:off x="609600" y="1104900"/>
            <a:ext cx="143827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D6A70"/>
                </a:solidFill>
              </a:defRPr>
            </a:pPr>
            <a:r>
              <a:rPr sz="2100" b="0">
                <a:solidFill>
                  <a:srgbClr val="5D6A70"/>
                </a:solidFill>
              </a:rPr>
              <a:t>These conflicts mattered because Oslo was not only trying to electrify cars. It was also trying to reduce the dominance of private cars in the city.</a:t>
            </a:r>
          </a:p>
        </p:txBody>
      </p:sp>
      <p:sp>
        <p:nvSpPr>
          <p:cNvPr id="4" name="">
            <a:extLst xmlns:a="http://schemas.openxmlformats.org/drawingml/2006/main">
              <a:ext uri="{FF2B5EF4-FFF2-40B4-BE49-F238E27FC236}">
                <a16:creationId xmlns:a16="http://schemas.microsoft.com/office/drawing/2014/main" id="{FFA6DFF6-3FA9-4993-8D4C-411AA15C9300}"/>
              </a:ext>
            </a:extLst>
          </p:cNvPr>
          <p:cNvSpPr>
            <a:spLocks xmlns:a="http://schemas.openxmlformats.org/drawingml/2006/main" noGrp="1"/>
          </p:cNvSpPr>
          <p:nvPr/>
        </p:nvSpPr>
        <p:spPr>
          <a:xfrm xmlns:a="http://schemas.openxmlformats.org/drawingml/2006/main">
            <a:off x="609600" y="1943100"/>
            <a:ext cx="7924800" cy="1371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0">
                <a:solidFill>
                  <a:srgbClr val="102027"/>
                </a:solidFill>
              </a:defRPr>
            </a:pPr>
            <a:r>
              <a:rPr sz="2250" b="0">
                <a:solidFill>
                  <a:srgbClr val="102027"/>
                </a:solidFill>
              </a:rPr>
              <a:t>Oslo's Climate Budget sets a 2030 goal of reducing direct greenhouse gas emissions by 95% compared with 2009, and treats the climate budget as an integrated governance tool within the financial budget.</a:t>
            </a:r>
          </a:p>
        </p:txBody>
      </p:sp>
      <p:sp>
        <p:nvSpPr>
          <p:cNvPr id="5" name="">
            <a:extLst xmlns:a="http://schemas.openxmlformats.org/drawingml/2006/main">
              <a:ext uri="{FF2B5EF4-FFF2-40B4-BE49-F238E27FC236}">
                <a16:creationId xmlns:a16="http://schemas.microsoft.com/office/drawing/2014/main" id="{BB8C7E0F-A860-4277-A96A-80F187721C10}"/>
              </a:ext>
            </a:extLst>
          </p:cNvPr>
          <p:cNvSpPr>
            <a:spLocks xmlns:a="http://schemas.openxmlformats.org/drawingml/2006/main" noGrp="1"/>
          </p:cNvSpPr>
          <p:nvPr/>
        </p:nvSpPr>
        <p:spPr>
          <a:xfrm xmlns:a="http://schemas.openxmlformats.org/drawingml/2006/main">
            <a:off x="609600" y="3486150"/>
            <a:ext cx="7924800" cy="1600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102027"/>
                </a:solidFill>
              </a:defRPr>
            </a:pPr>
            <a:r>
              <a:rPr sz="2100" b="0">
                <a:solidFill>
                  <a:srgbClr val="102027"/>
                </a:solidFill>
              </a:rPr>
              <a:t>At the same time, Oslo's transport strategy directs investment toward public transport, walking, and cycling. The 2024 Climate Budget states that Oslo Package 3 funds pedestrian, bicycle, and public transport measures, including subway, tram, and public-transport upgrades.</a:t>
            </a:r>
          </a:p>
        </p:txBody>
      </p:sp>
      <p:sp>
        <p:nvSpPr>
          <p:cNvPr id="6" name="">
            <a:extLst xmlns:a="http://schemas.openxmlformats.org/drawingml/2006/main">
              <a:ext uri="{FF2B5EF4-FFF2-40B4-BE49-F238E27FC236}">
                <a16:creationId xmlns:a16="http://schemas.microsoft.com/office/drawing/2014/main" id="{BD4F0804-A992-4D33-82B6-3EA70A717AA1}"/>
              </a:ext>
            </a:extLst>
          </p:cNvPr>
          <p:cNvSpPr>
            <a:spLocks xmlns:a="http://schemas.openxmlformats.org/drawingml/2006/main" noGrp="1"/>
          </p:cNvSpPr>
          <p:nvPr/>
        </p:nvSpPr>
        <p:spPr>
          <a:xfrm xmlns:a="http://schemas.openxmlformats.org/drawingml/2006/main">
            <a:off x="8934450" y="1943100"/>
            <a:ext cx="87439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a:solidFill>
                  <a:srgbClr val="E45A46"/>
                </a:solidFill>
              </a:defRPr>
            </a:pPr>
            <a:r>
              <a:rPr sz="3150" b="1">
                <a:solidFill>
                  <a:srgbClr val="E45A46"/>
                </a:solidFill>
              </a:rPr>
              <a:t>Policy contradiction</a:t>
            </a:r>
          </a:p>
        </p:txBody>
      </p:sp>
      <p:sp>
        <p:nvSpPr>
          <p:cNvPr id="7" name="">
            <a:extLst xmlns:a="http://schemas.openxmlformats.org/drawingml/2006/main">
              <a:ext uri="{FF2B5EF4-FFF2-40B4-BE49-F238E27FC236}">
                <a16:creationId xmlns:a16="http://schemas.microsoft.com/office/drawing/2014/main" id="{356DE70A-50E6-43F4-AE59-A43212627199}"/>
              </a:ext>
            </a:extLst>
          </p:cNvPr>
          <p:cNvSpPr>
            <a:spLocks xmlns:a="http://schemas.openxmlformats.org/drawingml/2006/main" noGrp="1"/>
          </p:cNvSpPr>
          <p:nvPr/>
        </p:nvSpPr>
        <p:spPr>
          <a:xfrm xmlns:a="http://schemas.openxmlformats.org/drawingml/2006/main">
            <a:off x="8934450" y="2609850"/>
            <a:ext cx="42672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00A6A6"/>
                </a:solidFill>
              </a:defRPr>
            </a:pPr>
            <a:r>
              <a:rPr sz="2400" b="1">
                <a:solidFill>
                  <a:srgbClr val="00A6A6"/>
                </a:solidFill>
              </a:rPr>
              <a:t>EV incentives</a:t>
            </a:r>
          </a:p>
        </p:txBody>
      </p:sp>
      <p:sp>
        <p:nvSpPr>
          <p:cNvPr id="8" name="">
            <a:extLst xmlns:a="http://schemas.openxmlformats.org/drawingml/2006/main">
              <a:ext uri="{FF2B5EF4-FFF2-40B4-BE49-F238E27FC236}">
                <a16:creationId xmlns:a16="http://schemas.microsoft.com/office/drawing/2014/main" id="{2DE9C1E3-41FC-4DBF-B576-34FB33AB4EBE}"/>
              </a:ext>
            </a:extLst>
          </p:cNvPr>
          <p:cNvSpPr>
            <a:spLocks xmlns:a="http://schemas.openxmlformats.org/drawingml/2006/main" noGrp="1"/>
          </p:cNvSpPr>
          <p:nvPr/>
        </p:nvSpPr>
        <p:spPr>
          <a:xfrm xmlns:a="http://schemas.openxmlformats.org/drawingml/2006/main">
            <a:off x="8934450" y="3105150"/>
            <a:ext cx="42672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102027"/>
                </a:solidFill>
              </a:defRPr>
            </a:pPr>
            <a:r>
              <a:rPr sz="2100" b="0">
                <a:solidFill>
                  <a:srgbClr val="102027"/>
                </a:solidFill>
              </a:rPr>
              <a:t>made electric driving cheaper and more convenient.</a:t>
            </a:r>
          </a:p>
        </p:txBody>
      </p:sp>
      <p:sp>
        <p:nvSpPr>
          <p:cNvPr id="9" name="">
            <a:extLst xmlns:a="http://schemas.openxmlformats.org/drawingml/2006/main">
              <a:ext uri="{FF2B5EF4-FFF2-40B4-BE49-F238E27FC236}">
                <a16:creationId xmlns:a16="http://schemas.microsoft.com/office/drawing/2014/main" id="{27224B18-55C5-41EA-B86D-230DD84B821F}"/>
              </a:ext>
            </a:extLst>
          </p:cNvPr>
          <p:cNvSpPr>
            <a:spLocks xmlns:a="http://schemas.openxmlformats.org/drawingml/2006/main" noGrp="1"/>
          </p:cNvSpPr>
          <p:nvPr/>
        </p:nvSpPr>
        <p:spPr>
          <a:xfrm xmlns:a="http://schemas.openxmlformats.org/drawingml/2006/main">
            <a:off x="13411200" y="2609850"/>
            <a:ext cx="42672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a:solidFill>
                  <a:srgbClr val="2F6FBB"/>
                </a:solidFill>
              </a:defRPr>
            </a:pPr>
            <a:r>
              <a:rPr sz="2400" b="1">
                <a:solidFill>
                  <a:srgbClr val="2F6FBB"/>
                </a:solidFill>
              </a:rPr>
              <a:t>Oslo's mobility agenda</a:t>
            </a:r>
          </a:p>
        </p:txBody>
      </p:sp>
      <p:sp>
        <p:nvSpPr>
          <p:cNvPr id="10" name="">
            <a:extLst xmlns:a="http://schemas.openxmlformats.org/drawingml/2006/main">
              <a:ext uri="{FF2B5EF4-FFF2-40B4-BE49-F238E27FC236}">
                <a16:creationId xmlns:a16="http://schemas.microsoft.com/office/drawing/2014/main" id="{A9FEA315-93DF-4231-9E2E-1CFA75F6109E}"/>
              </a:ext>
            </a:extLst>
          </p:cNvPr>
          <p:cNvSpPr>
            <a:spLocks xmlns:a="http://schemas.openxmlformats.org/drawingml/2006/main" noGrp="1"/>
          </p:cNvSpPr>
          <p:nvPr/>
        </p:nvSpPr>
        <p:spPr>
          <a:xfrm xmlns:a="http://schemas.openxmlformats.org/drawingml/2006/main">
            <a:off x="13411200" y="3105150"/>
            <a:ext cx="42672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102027"/>
                </a:solidFill>
              </a:defRPr>
            </a:pPr>
            <a:r>
              <a:rPr sz="2100" b="0">
                <a:solidFill>
                  <a:srgbClr val="102027"/>
                </a:solidFill>
              </a:rPr>
              <a:t>tried to make private car use less dominant.</a:t>
            </a:r>
          </a:p>
        </p:txBody>
      </p:sp>
      <p:sp>
        <p:nvSpPr>
          <p:cNvPr id="11" name="">
            <a:extLst xmlns:a="http://schemas.openxmlformats.org/drawingml/2006/main">
              <a:ext uri="{FF2B5EF4-FFF2-40B4-BE49-F238E27FC236}">
                <a16:creationId xmlns:a16="http://schemas.microsoft.com/office/drawing/2014/main" id="{18418DD6-6380-4AD9-BCBC-89B8B10CA61D}"/>
              </a:ext>
            </a:extLst>
          </p:cNvPr>
          <p:cNvSpPr>
            <a:spLocks xmlns:a="http://schemas.openxmlformats.org/drawingml/2006/main" noGrp="1"/>
          </p:cNvSpPr>
          <p:nvPr/>
        </p:nvSpPr>
        <p:spPr>
          <a:xfrm xmlns:a="http://schemas.openxmlformats.org/drawingml/2006/main">
            <a:off x="8934450" y="5181600"/>
            <a:ext cx="4000500" cy="57150"/>
          </a:xfrm>
          <a:prstGeom xmlns:a="http://schemas.openxmlformats.org/drawingml/2006/main" prst="rect">
            <a:avLst/>
          </a:prstGeom>
          <a:solidFill xmlns:a="http://schemas.openxmlformats.org/drawingml/2006/main">
            <a:srgbClr val="E45A46"/>
          </a:solidFill>
          <a:ln xmlns:a="http://schemas.openxmlformats.org/drawingml/2006/main" w="0">
            <a:solidFill>
              <a:srgbClr val="E45A46"/>
            </a:solidFill>
            <a:prstDash val="solid"/>
          </a:ln>
        </p:spPr>
      </p:sp>
      <p:sp>
        <p:nvSpPr>
          <p:cNvPr id="12" name="">
            <a:extLst xmlns:a="http://schemas.openxmlformats.org/drawingml/2006/main">
              <a:ext uri="{FF2B5EF4-FFF2-40B4-BE49-F238E27FC236}">
                <a16:creationId xmlns:a16="http://schemas.microsoft.com/office/drawing/2014/main" id="{69CC7BB3-E343-43F6-82BF-5E8A0195445E}"/>
              </a:ext>
            </a:extLst>
          </p:cNvPr>
          <p:cNvSpPr>
            <a:spLocks xmlns:a="http://schemas.openxmlformats.org/drawingml/2006/main" noGrp="1"/>
          </p:cNvSpPr>
          <p:nvPr/>
        </p:nvSpPr>
        <p:spPr>
          <a:xfrm xmlns:a="http://schemas.openxmlformats.org/drawingml/2006/main">
            <a:off x="8934450" y="5429250"/>
            <a:ext cx="87439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02027"/>
                </a:solidFill>
              </a:defRPr>
            </a:pPr>
            <a:r>
              <a:rPr sz="2550" b="1">
                <a:solidFill>
                  <a:srgbClr val="102027"/>
                </a:solidFill>
              </a:rPr>
              <a:t>The issue was not whether EVs were cleaner. They were.</a:t>
            </a:r>
          </a:p>
        </p:txBody>
      </p:sp>
      <p:sp>
        <p:nvSpPr>
          <p:cNvPr id="13" name="">
            <a:extLst xmlns:a="http://schemas.openxmlformats.org/drawingml/2006/main">
              <a:ext uri="{FF2B5EF4-FFF2-40B4-BE49-F238E27FC236}">
                <a16:creationId xmlns:a16="http://schemas.microsoft.com/office/drawing/2014/main" id="{FE3B3E57-515E-468E-9490-56302370F3D8}"/>
              </a:ext>
            </a:extLst>
          </p:cNvPr>
          <p:cNvSpPr>
            <a:spLocks xmlns:a="http://schemas.openxmlformats.org/drawingml/2006/main" noGrp="1"/>
          </p:cNvSpPr>
          <p:nvPr/>
        </p:nvSpPr>
        <p:spPr>
          <a:xfrm xmlns:a="http://schemas.openxmlformats.org/drawingml/2006/main">
            <a:off x="8934450" y="6000750"/>
            <a:ext cx="87439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02027"/>
                </a:solidFill>
              </a:defRPr>
            </a:pPr>
            <a:r>
              <a:rPr sz="2550" b="1">
                <a:solidFill>
                  <a:srgbClr val="102027"/>
                </a:solidFill>
              </a:rPr>
              <a:t>The issue was whether cleaner cars should continue receiving privileges that make car use more attractive.</a:t>
            </a:r>
          </a:p>
        </p:txBody>
      </p:sp>
      <p:sp>
        <p:nvSpPr>
          <p:cNvPr id="14" name="">
            <a:extLst xmlns:a="http://schemas.openxmlformats.org/drawingml/2006/main">
              <a:ext uri="{FF2B5EF4-FFF2-40B4-BE49-F238E27FC236}">
                <a16:creationId xmlns:a16="http://schemas.microsoft.com/office/drawing/2014/main" id="{DE83CD77-F838-4147-B1FE-94361E96B26C}"/>
              </a:ext>
            </a:extLst>
          </p:cNvPr>
          <p:cNvSpPr>
            <a:spLocks xmlns:a="http://schemas.openxmlformats.org/drawingml/2006/main" noGrp="1"/>
          </p:cNvSpPr>
          <p:nvPr/>
        </p:nvSpPr>
        <p:spPr>
          <a:xfrm xmlns:a="http://schemas.openxmlformats.org/drawingml/2006/main">
            <a:off x="609600" y="9715500"/>
            <a:ext cx="170688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a:solidFill>
                  <a:srgbClr val="748287"/>
                </a:solidFill>
              </a:defRPr>
            </a:pPr>
            <a:r>
              <a:rPr sz="900" b="0">
                <a:solidFill>
                  <a:srgbClr val="748287"/>
                </a:solidFill>
              </a:rPr>
              <a:t>Sources: Oslo Climate Budget 2024; City of Oslo climate-budget materials.</a:t>
            </a:r>
          </a:p>
        </p:txBody>
      </p:sp>
    </p:spTree>
    <p:extLst>
      <p:ext uri="{BB962C8B-B14F-4D97-AF65-F5344CB8AC3E}">
        <p14:creationId xmlns:p14="http://schemas.microsoft.com/office/powerpoint/2010/main" val="2321166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2026-04-29T04:10:10.0410000Z</dcterms:created>
  <dcterms:modified xsi:type="dcterms:W3CDTF">2026-04-29T04:10:10.0410000Z</dcterms:modified>
</coreProperties>
</file>